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3.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4.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2" r:id="rId4"/>
    <p:sldMasterId id="2147483652" r:id="rId5"/>
    <p:sldMasterId id="2147483726" r:id="rId6"/>
    <p:sldMasterId id="2147483714" r:id="rId7"/>
    <p:sldMasterId id="2147483706" r:id="rId8"/>
  </p:sldMasterIdLst>
  <p:notesMasterIdLst>
    <p:notesMasterId r:id="rId23"/>
  </p:notesMasterIdLst>
  <p:sldIdLst>
    <p:sldId id="274" r:id="rId9"/>
    <p:sldId id="271" r:id="rId10"/>
    <p:sldId id="2147376773" r:id="rId11"/>
    <p:sldId id="2147376659" r:id="rId12"/>
    <p:sldId id="2147376643" r:id="rId13"/>
    <p:sldId id="2147376746" r:id="rId14"/>
    <p:sldId id="2147376747" r:id="rId15"/>
    <p:sldId id="2147376764" r:id="rId16"/>
    <p:sldId id="2147376702" r:id="rId17"/>
    <p:sldId id="2147376774" r:id="rId18"/>
    <p:sldId id="2147376666" r:id="rId19"/>
    <p:sldId id="2147376788" r:id="rId20"/>
    <p:sldId id="2147376783" r:id="rId21"/>
    <p:sldId id="214737678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1E0A5F0-1980-C210-F852-25DDACE618F4}" name="Judah Chandra" initials="JC" userId="S::efsjc@leeds.ac.uk::90c61f5d-e6f3-4175-8579-acf40f30fcd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26866"/>
    <a:srgbClr val="FAEE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F28144-3F65-4D25-8EB8-E874D9C28DD6}" v="2" dt="2026-09-29T15:10:45.83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8" autoAdjust="0"/>
    <p:restoredTop sz="92740" autoAdjust="0"/>
  </p:normalViewPr>
  <p:slideViewPr>
    <p:cSldViewPr snapToGrid="0">
      <p:cViewPr varScale="1">
        <p:scale>
          <a:sx n="117" d="100"/>
          <a:sy n="117" d="100"/>
        </p:scale>
        <p:origin x="43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3.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2.xml"/><Relationship Id="rId19" Type="http://schemas.openxmlformats.org/officeDocument/2006/relationships/slide" Target="slides/slide11.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53129D-F498-468E-99F7-3FCBF1A2D0CA}" type="datetimeFigureOut">
              <a:rPr lang="en-GB" smtClean="0"/>
              <a:t>12/10/2026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07A6AE-E270-4F34-83A2-2E3857210B07}" type="slidenum">
              <a:rPr lang="en-GB" smtClean="0"/>
              <a:t>‹#›</a:t>
            </a:fld>
            <a:endParaRPr lang="en-GB"/>
          </a:p>
        </p:txBody>
      </p:sp>
    </p:spTree>
    <p:extLst>
      <p:ext uri="{BB962C8B-B14F-4D97-AF65-F5344CB8AC3E}">
        <p14:creationId xmlns:p14="http://schemas.microsoft.com/office/powerpoint/2010/main" val="6877707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00CA7-ABBF-450D-073C-35CFF881FD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53C6FB-1B27-E280-1E11-680C26889A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C32719-EACB-815B-778A-8CFE6798267C}"/>
              </a:ext>
            </a:extLst>
          </p:cNvPr>
          <p:cNvSpPr>
            <a:spLocks noGrp="1"/>
          </p:cNvSpPr>
          <p:nvPr>
            <p:ph type="body" idx="1"/>
          </p:nvPr>
        </p:nvSpPr>
        <p:spPr/>
        <p:txBody>
          <a:bodyPr/>
          <a:lstStyle/>
          <a:p>
            <a:endParaRPr lang="en-GB" b="1"/>
          </a:p>
        </p:txBody>
      </p:sp>
      <p:sp>
        <p:nvSpPr>
          <p:cNvPr id="4" name="Slide Number Placeholder 3">
            <a:extLst>
              <a:ext uri="{FF2B5EF4-FFF2-40B4-BE49-F238E27FC236}">
                <a16:creationId xmlns:a16="http://schemas.microsoft.com/office/drawing/2014/main" id="{C6E13A8B-D642-815A-A7E6-570C3DCE07E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D07A6AE-E270-4F34-83A2-2E3857210B07}"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218424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sz="1200"/>
              <a:t>This is the first year that some students have signed up for the YII variant of their course, so this is why it’s worth explaining about YII opportunities now. However, they will be applying at the beginning of year 2.</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sz="120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sz="1200"/>
              <a:t>Explain how summer internships are not always open to first years, but to filter down to see if they are open to first years.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sz="120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sz="1200"/>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a:t>CHEM- If replacing your 3</a:t>
            </a:r>
            <a:r>
              <a:rPr lang="en-GB" sz="1200" baseline="30000"/>
              <a:t>rd</a:t>
            </a:r>
            <a:r>
              <a:rPr lang="en-GB" sz="1200"/>
              <a:t> year, must have a laboratory focus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a:t>MATHS Must be applying skills from your degree, </a:t>
            </a:r>
            <a:r>
              <a:rPr lang="en-GB" sz="1200" err="1"/>
              <a:t>ie</a:t>
            </a:r>
            <a:r>
              <a:rPr lang="en-GB" sz="1200"/>
              <a:t>. some Maths-related content</a:t>
            </a:r>
            <a:endParaRPr lang="en-US" b="1">
              <a:solidFill>
                <a:srgbClr val="CD1953"/>
              </a:solidFill>
              <a:cs typeface="Calibri"/>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1">
              <a:solidFill>
                <a:srgbClr val="CD1953"/>
              </a:solidFill>
              <a:cs typeface="Calibri"/>
            </a:endParaRPr>
          </a:p>
          <a:p>
            <a:endParaRPr lang="en-GB"/>
          </a:p>
        </p:txBody>
      </p:sp>
      <p:sp>
        <p:nvSpPr>
          <p:cNvPr id="4" name="Slide Number Placeholder 3"/>
          <p:cNvSpPr>
            <a:spLocks noGrp="1"/>
          </p:cNvSpPr>
          <p:nvPr>
            <p:ph type="sldNum" sz="quarter" idx="5"/>
          </p:nvPr>
        </p:nvSpPr>
        <p:spPr/>
        <p:txBody>
          <a:bodyPr/>
          <a:lstStyle/>
          <a:p>
            <a:fld id="{3EB47924-C69F-4FB8-BE34-551AD95C0BDE}" type="slidenum">
              <a:rPr lang="en-GB" smtClean="0"/>
              <a:t>4</a:t>
            </a:fld>
            <a:endParaRPr lang="en-GB"/>
          </a:p>
        </p:txBody>
      </p:sp>
    </p:spTree>
    <p:extLst>
      <p:ext uri="{BB962C8B-B14F-4D97-AF65-F5344CB8AC3E}">
        <p14:creationId xmlns:p14="http://schemas.microsoft.com/office/powerpoint/2010/main" val="25153923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466BF-D98E-9A10-0E65-1A1B54CCD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B3C505-0115-1397-2457-BD15D337B0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40975F-F98C-E346-4FA4-F7280384E137}"/>
              </a:ext>
            </a:extLst>
          </p:cNvPr>
          <p:cNvSpPr>
            <a:spLocks noGrp="1"/>
          </p:cNvSpPr>
          <p:nvPr>
            <p:ph type="body" idx="1"/>
          </p:nvPr>
        </p:nvSpPr>
        <p:spPr/>
        <p:txBody>
          <a:bodyPr/>
          <a:lstStyle/>
          <a:p>
            <a:endParaRPr lang="en-GB" b="1"/>
          </a:p>
        </p:txBody>
      </p:sp>
      <p:sp>
        <p:nvSpPr>
          <p:cNvPr id="4" name="Slide Number Placeholder 3">
            <a:extLst>
              <a:ext uri="{FF2B5EF4-FFF2-40B4-BE49-F238E27FC236}">
                <a16:creationId xmlns:a16="http://schemas.microsoft.com/office/drawing/2014/main" id="{FF4304C8-D4F7-67D7-DA10-ED4F13B3B4F8}"/>
              </a:ext>
            </a:extLst>
          </p:cNvPr>
          <p:cNvSpPr>
            <a:spLocks noGrp="1"/>
          </p:cNvSpPr>
          <p:nvPr>
            <p:ph type="sldNum" sz="quarter" idx="5"/>
          </p:nvPr>
        </p:nvSpPr>
        <p:spPr/>
        <p:txBody>
          <a:bodyPr/>
          <a:lstStyle/>
          <a:p>
            <a:fld id="{DD07A6AE-E270-4F34-83A2-2E3857210B07}" type="slidenum">
              <a:rPr lang="en-GB" smtClean="0"/>
              <a:t>5</a:t>
            </a:fld>
            <a:endParaRPr lang="en-GB"/>
          </a:p>
        </p:txBody>
      </p:sp>
    </p:spTree>
    <p:extLst>
      <p:ext uri="{BB962C8B-B14F-4D97-AF65-F5344CB8AC3E}">
        <p14:creationId xmlns:p14="http://schemas.microsoft.com/office/powerpoint/2010/main" val="8247168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Choose either to do a live demonstration to navigate </a:t>
            </a:r>
            <a:r>
              <a:rPr lang="en-GB" err="1"/>
              <a:t>MyCareer</a:t>
            </a:r>
            <a:r>
              <a:rPr lang="en-GB"/>
              <a:t> or show this slide. </a:t>
            </a:r>
          </a:p>
        </p:txBody>
      </p:sp>
      <p:sp>
        <p:nvSpPr>
          <p:cNvPr id="4" name="Slide Number Placeholder 3"/>
          <p:cNvSpPr>
            <a:spLocks noGrp="1"/>
          </p:cNvSpPr>
          <p:nvPr>
            <p:ph type="sldNum" sz="quarter" idx="5"/>
          </p:nvPr>
        </p:nvSpPr>
        <p:spPr/>
        <p:txBody>
          <a:bodyPr/>
          <a:lstStyle/>
          <a:p>
            <a:fld id="{E19CBC4B-02D3-43B0-8BFD-3B2ABF82FE8D}" type="slidenum">
              <a:rPr lang="en-GB" smtClean="0"/>
              <a:t>6</a:t>
            </a:fld>
            <a:endParaRPr lang="en-GB"/>
          </a:p>
        </p:txBody>
      </p:sp>
    </p:spTree>
    <p:extLst>
      <p:ext uri="{BB962C8B-B14F-4D97-AF65-F5344CB8AC3E}">
        <p14:creationId xmlns:p14="http://schemas.microsoft.com/office/powerpoint/2010/main" val="17153713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5450" y="1243013"/>
            <a:ext cx="5946775" cy="334645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3D65C4C8-4536-469B-B37E-A8866A365AA8}" type="slidenum">
              <a:rPr lang="en-GB" smtClean="0"/>
              <a:t>7</a:t>
            </a:fld>
            <a:endParaRPr lang="en-GB"/>
          </a:p>
        </p:txBody>
      </p:sp>
    </p:spTree>
    <p:extLst>
      <p:ext uri="{BB962C8B-B14F-4D97-AF65-F5344CB8AC3E}">
        <p14:creationId xmlns:p14="http://schemas.microsoft.com/office/powerpoint/2010/main" val="37406851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Remind students of the location of the Office, based on the 1st floor of the Mech Eng building, in room 1.51 and during term time we are open to students Mon to Fri from 10-4 and outside of term-time TWT 10-4pm</a:t>
            </a:r>
          </a:p>
          <a:p>
            <a:r>
              <a:rPr lang="en-US">
                <a:cs typeface="Calibri"/>
              </a:rPr>
              <a:t>You can contact us via the email address on the slide.  Invite students to take a photo of the slide so they have our details.  </a:t>
            </a:r>
          </a:p>
          <a:p>
            <a:r>
              <a:rPr lang="en-US">
                <a:cs typeface="Calibri"/>
              </a:rPr>
              <a:t>And mentioned </a:t>
            </a:r>
            <a:r>
              <a:rPr lang="en-US" err="1">
                <a:cs typeface="Calibri"/>
              </a:rPr>
              <a:t>myCareer</a:t>
            </a:r>
            <a:r>
              <a:rPr lang="en-US">
                <a:cs typeface="Calibri"/>
              </a:rPr>
              <a:t> and Minerva in terms of booking appointments and accessing our resources.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B1CC16-F36C-40B5-847E-831E6AC913B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908400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86564-2032-71E5-49F4-66723699AB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3B78F4-EF79-491F-7AE9-1A1763D6F3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D74544-C2EA-231F-8444-9A521BA8CBA4}"/>
              </a:ext>
            </a:extLst>
          </p:cNvPr>
          <p:cNvSpPr>
            <a:spLocks noGrp="1"/>
          </p:cNvSpPr>
          <p:nvPr>
            <p:ph type="body" idx="1"/>
          </p:nvPr>
        </p:nvSpPr>
        <p:spPr/>
        <p:txBody>
          <a:bodyPr/>
          <a:lstStyle/>
          <a:p>
            <a:pPr fontAlgn="t"/>
            <a:r>
              <a:rPr lang="en-GB" sz="1200" b="0" i="1" kern="1200" dirty="0">
                <a:solidFill>
                  <a:schemeClr val="tx1"/>
                </a:solidFill>
                <a:effectLst/>
                <a:latin typeface="+mn-lt"/>
                <a:ea typeface="+mn-ea"/>
                <a:cs typeface="+mn-cs"/>
              </a:rPr>
              <a:t>Once you've prepared your applications, the next step is knowing where to look for opportunities. There are three key resources I'd recommend using regularly."</a:t>
            </a:r>
            <a:endParaRPr lang="en-GB" sz="1200" b="0" i="0" kern="1200" dirty="0">
              <a:solidFill>
                <a:schemeClr val="tx1"/>
              </a:solidFill>
              <a:effectLst/>
              <a:latin typeface="+mn-lt"/>
              <a:ea typeface="+mn-ea"/>
              <a:cs typeface="+mn-cs"/>
            </a:endParaRPr>
          </a:p>
          <a:p>
            <a:pPr fontAlgn="t"/>
            <a:r>
              <a:rPr lang="en-GB" sz="1200" b="0" i="1" kern="1200" dirty="0">
                <a:solidFill>
                  <a:schemeClr val="tx1"/>
                </a:solidFill>
                <a:effectLst/>
                <a:latin typeface="+mn-lt"/>
                <a:ea typeface="+mn-ea"/>
                <a:cs typeface="+mn-cs"/>
              </a:rPr>
              <a:t>"The first is </a:t>
            </a:r>
            <a:r>
              <a:rPr lang="en-GB" sz="1200" b="0" i="1" kern="1200" dirty="0" err="1">
                <a:solidFill>
                  <a:schemeClr val="tx1"/>
                </a:solidFill>
                <a:effectLst/>
                <a:latin typeface="+mn-lt"/>
                <a:ea typeface="+mn-ea"/>
                <a:cs typeface="+mn-cs"/>
              </a:rPr>
              <a:t>MyCareer</a:t>
            </a:r>
            <a:r>
              <a:rPr lang="en-GB" sz="1200" b="0" i="1" kern="1200" dirty="0">
                <a:solidFill>
                  <a:schemeClr val="tx1"/>
                </a:solidFill>
                <a:effectLst/>
                <a:latin typeface="+mn-lt"/>
                <a:ea typeface="+mn-ea"/>
                <a:cs typeface="+mn-cs"/>
              </a:rPr>
              <a:t>, where you'll find internships, placements, graduate jobs, part-time work, research opportunities, and EPS-exclusive vacancies that are only available to students within our faculty."</a:t>
            </a:r>
            <a:endParaRPr lang="en-GB" sz="1200" b="0" i="0" kern="1200" dirty="0">
              <a:solidFill>
                <a:schemeClr val="tx1"/>
              </a:solidFill>
              <a:effectLst/>
              <a:latin typeface="+mn-lt"/>
              <a:ea typeface="+mn-ea"/>
              <a:cs typeface="+mn-cs"/>
            </a:endParaRPr>
          </a:p>
          <a:p>
            <a:pPr fontAlgn="t"/>
            <a:r>
              <a:rPr lang="en-GB" sz="1200" b="0" i="1" kern="1200" dirty="0">
                <a:solidFill>
                  <a:schemeClr val="tx1"/>
                </a:solidFill>
                <a:effectLst/>
                <a:latin typeface="+mn-lt"/>
                <a:ea typeface="+mn-ea"/>
                <a:cs typeface="+mn-cs"/>
              </a:rPr>
              <a:t>"The second is </a:t>
            </a:r>
            <a:r>
              <a:rPr lang="en-GB" sz="1200" b="0" i="1" kern="1200" dirty="0" err="1">
                <a:solidFill>
                  <a:schemeClr val="tx1"/>
                </a:solidFill>
                <a:effectLst/>
                <a:latin typeface="+mn-lt"/>
                <a:ea typeface="+mn-ea"/>
                <a:cs typeface="+mn-cs"/>
              </a:rPr>
              <a:t>Gradcracker</a:t>
            </a:r>
            <a:r>
              <a:rPr lang="en-GB" sz="1200" b="0" i="1" kern="1200" dirty="0">
                <a:solidFill>
                  <a:schemeClr val="tx1"/>
                </a:solidFill>
                <a:effectLst/>
                <a:latin typeface="+mn-lt"/>
                <a:ea typeface="+mn-ea"/>
                <a:cs typeface="+mn-cs"/>
              </a:rPr>
              <a:t>, which is specifically designed for STEM students and advertises placement years, internships, insight days, and graduate roles from a wide range of employers."</a:t>
            </a:r>
            <a:endParaRPr lang="en-GB" sz="1200" b="0" i="0" kern="1200" dirty="0">
              <a:solidFill>
                <a:schemeClr val="tx1"/>
              </a:solidFill>
              <a:effectLst/>
              <a:latin typeface="+mn-lt"/>
              <a:ea typeface="+mn-ea"/>
              <a:cs typeface="+mn-cs"/>
            </a:endParaRPr>
          </a:p>
          <a:p>
            <a:pPr fontAlgn="t"/>
            <a:r>
              <a:rPr lang="en-GB" sz="1200" b="0" i="1" kern="1200" dirty="0">
                <a:solidFill>
                  <a:schemeClr val="tx1"/>
                </a:solidFill>
                <a:effectLst/>
                <a:latin typeface="+mn-lt"/>
                <a:ea typeface="+mn-ea"/>
                <a:cs typeface="+mn-cs"/>
              </a:rPr>
              <a:t>"The third is Bright Network, another excellent platform that advertises internships, placements, graduate jobs, networking events, and employer-led opportunities across a variety of sectors. Many large employers use Bright Network as part of their recruitment process."</a:t>
            </a:r>
            <a:endParaRPr lang="en-GB" sz="1200" b="0" i="0" kern="1200" dirty="0">
              <a:solidFill>
                <a:schemeClr val="tx1"/>
              </a:solidFill>
              <a:effectLst/>
              <a:latin typeface="+mn-lt"/>
              <a:ea typeface="+mn-ea"/>
              <a:cs typeface="+mn-cs"/>
            </a:endParaRPr>
          </a:p>
          <a:p>
            <a:pPr fontAlgn="t"/>
            <a:r>
              <a:rPr lang="en-GB" sz="1200" b="0" i="1" kern="1200" dirty="0">
                <a:solidFill>
                  <a:schemeClr val="tx1"/>
                </a:solidFill>
                <a:effectLst/>
                <a:latin typeface="+mn-lt"/>
                <a:ea typeface="+mn-ea"/>
                <a:cs typeface="+mn-cs"/>
              </a:rPr>
              <a:t>"I'd encourage you to check all three platforms regularly and set up job alerts so you're notified when relevant opportunities become available."</a:t>
            </a:r>
            <a:endParaRPr lang="en-GB" sz="1200" b="0" i="0" kern="1200" dirty="0">
              <a:solidFill>
                <a:schemeClr val="tx1"/>
              </a:solidFill>
              <a:effectLst/>
              <a:latin typeface="+mn-lt"/>
              <a:ea typeface="+mn-ea"/>
              <a:cs typeface="+mn-cs"/>
            </a:endParaRPr>
          </a:p>
          <a:p>
            <a:endParaRPr lang="en-GB" dirty="0"/>
          </a:p>
        </p:txBody>
      </p:sp>
      <p:sp>
        <p:nvSpPr>
          <p:cNvPr id="4" name="Slide Number Placeholder 3">
            <a:extLst>
              <a:ext uri="{FF2B5EF4-FFF2-40B4-BE49-F238E27FC236}">
                <a16:creationId xmlns:a16="http://schemas.microsoft.com/office/drawing/2014/main" id="{B49EC855-D3D5-2027-69D3-00AF495D8239}"/>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A08C639-DBDB-6046-851C-163A210B435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991396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BC023-AF9C-5A31-B9D2-3578D8AC70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A68F98-5B57-586C-AE24-0CFB2DF9A5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9EDB78-2E0E-5FC5-BA7D-C046BC17A22A}"/>
              </a:ext>
            </a:extLst>
          </p:cNvPr>
          <p:cNvSpPr>
            <a:spLocks noGrp="1"/>
          </p:cNvSpPr>
          <p:nvPr>
            <p:ph type="body" idx="1"/>
          </p:nvPr>
        </p:nvSpPr>
        <p:spPr/>
        <p:txBody>
          <a:bodyPr/>
          <a:lstStyle/>
          <a:p>
            <a:pPr fontAlgn="t"/>
            <a:r>
              <a:rPr lang="en-GB" sz="1200" b="0" i="1" kern="1200" dirty="0">
                <a:solidFill>
                  <a:schemeClr val="tx1"/>
                </a:solidFill>
                <a:effectLst/>
                <a:latin typeface="+mn-lt"/>
                <a:ea typeface="+mn-ea"/>
                <a:cs typeface="+mn-cs"/>
              </a:rPr>
              <a:t>"While job boards are a great place to start, there are lots of other ways to find opportunities and build your network."</a:t>
            </a:r>
            <a:endParaRPr lang="en-GB" sz="1200" b="0" i="0" kern="1200" dirty="0">
              <a:solidFill>
                <a:schemeClr val="tx1"/>
              </a:solidFill>
              <a:effectLst/>
              <a:latin typeface="+mn-lt"/>
              <a:ea typeface="+mn-ea"/>
              <a:cs typeface="+mn-cs"/>
            </a:endParaRPr>
          </a:p>
          <a:p>
            <a:pPr fontAlgn="t"/>
            <a:r>
              <a:rPr lang="en-GB" sz="1200" b="0" i="1" kern="1200" dirty="0">
                <a:solidFill>
                  <a:schemeClr val="tx1"/>
                </a:solidFill>
                <a:effectLst/>
                <a:latin typeface="+mn-lt"/>
                <a:ea typeface="+mn-ea"/>
                <a:cs typeface="+mn-cs"/>
              </a:rPr>
              <a:t>"LinkedIn can help you connect with professionals, join industry groups, and use the alumni tool to see where Leeds graduates are working and the career paths they've taken."</a:t>
            </a:r>
            <a:endParaRPr lang="en-GB" sz="1200" b="0" i="0" kern="1200" dirty="0">
              <a:solidFill>
                <a:schemeClr val="tx1"/>
              </a:solidFill>
              <a:effectLst/>
              <a:latin typeface="+mn-lt"/>
              <a:ea typeface="+mn-ea"/>
              <a:cs typeface="+mn-cs"/>
            </a:endParaRPr>
          </a:p>
          <a:p>
            <a:pPr fontAlgn="t"/>
            <a:r>
              <a:rPr lang="en-GB" sz="1200" b="0" i="1" kern="1200" dirty="0">
                <a:solidFill>
                  <a:schemeClr val="tx1"/>
                </a:solidFill>
                <a:effectLst/>
                <a:latin typeface="+mn-lt"/>
                <a:ea typeface="+mn-ea"/>
                <a:cs typeface="+mn-cs"/>
              </a:rPr>
              <a:t>"I would also encourage you to attend careers events and fairs, which can be booked through </a:t>
            </a:r>
            <a:r>
              <a:rPr lang="en-GB" sz="1200" b="0" i="1" kern="1200" dirty="0" err="1">
                <a:solidFill>
                  <a:schemeClr val="tx1"/>
                </a:solidFill>
                <a:effectLst/>
                <a:latin typeface="+mn-lt"/>
                <a:ea typeface="+mn-ea"/>
                <a:cs typeface="+mn-cs"/>
              </a:rPr>
              <a:t>MyCareer</a:t>
            </a:r>
            <a:r>
              <a:rPr lang="en-GB" sz="1200" b="0" i="1" kern="1200" dirty="0">
                <a:solidFill>
                  <a:schemeClr val="tx1"/>
                </a:solidFill>
                <a:effectLst/>
                <a:latin typeface="+mn-lt"/>
                <a:ea typeface="+mn-ea"/>
                <a:cs typeface="+mn-cs"/>
              </a:rPr>
              <a:t>. These are great opportunities to meet employers, ask questions, and learn about roles that may not be widely advertised."</a:t>
            </a:r>
            <a:endParaRPr lang="en-GB" sz="1200" b="0" i="0" kern="1200" dirty="0">
              <a:solidFill>
                <a:schemeClr val="tx1"/>
              </a:solidFill>
              <a:effectLst/>
              <a:latin typeface="+mn-lt"/>
              <a:ea typeface="+mn-ea"/>
              <a:cs typeface="+mn-cs"/>
            </a:endParaRPr>
          </a:p>
          <a:p>
            <a:pPr fontAlgn="t"/>
            <a:r>
              <a:rPr lang="en-GB" sz="1200" b="0" i="1" kern="1200" dirty="0">
                <a:solidFill>
                  <a:schemeClr val="tx1"/>
                </a:solidFill>
                <a:effectLst/>
                <a:latin typeface="+mn-lt"/>
                <a:ea typeface="+mn-ea"/>
                <a:cs typeface="+mn-cs"/>
              </a:rPr>
              <a:t>"Don't forget your fellow students as well. Sharing opportunities, application tips, and experiences can be incredibly valuable."</a:t>
            </a:r>
            <a:endParaRPr lang="en-GB" sz="1200" b="0" i="0" kern="1200" dirty="0">
              <a:solidFill>
                <a:schemeClr val="tx1"/>
              </a:solidFill>
              <a:effectLst/>
              <a:latin typeface="+mn-lt"/>
              <a:ea typeface="+mn-ea"/>
              <a:cs typeface="+mn-cs"/>
            </a:endParaRPr>
          </a:p>
          <a:p>
            <a:pPr fontAlgn="t"/>
            <a:r>
              <a:rPr lang="en-GB" sz="1200" b="0" i="1" kern="1200" dirty="0">
                <a:solidFill>
                  <a:schemeClr val="tx1"/>
                </a:solidFill>
                <a:effectLst/>
                <a:latin typeface="+mn-lt"/>
                <a:ea typeface="+mn-ea"/>
                <a:cs typeface="+mn-cs"/>
              </a:rPr>
              <a:t>"Finally, professional bodies often provide careers advice, networking opportunities, and exclusive internships, placements, and graduate vacancies, so they're well worth exploring."</a:t>
            </a:r>
            <a:endParaRPr lang="en-GB" sz="1200" b="0" i="0" kern="1200" dirty="0">
              <a:solidFill>
                <a:schemeClr val="tx1"/>
              </a:solidFill>
              <a:effectLst/>
              <a:latin typeface="+mn-lt"/>
              <a:ea typeface="+mn-ea"/>
              <a:cs typeface="+mn-cs"/>
            </a:endParaRPr>
          </a:p>
          <a:p>
            <a:endParaRPr lang="en-GB" dirty="0"/>
          </a:p>
        </p:txBody>
      </p:sp>
      <p:sp>
        <p:nvSpPr>
          <p:cNvPr id="4" name="Slide Number Placeholder 3">
            <a:extLst>
              <a:ext uri="{FF2B5EF4-FFF2-40B4-BE49-F238E27FC236}">
                <a16:creationId xmlns:a16="http://schemas.microsoft.com/office/drawing/2014/main" id="{FAF49E8D-54EE-A24F-411A-7350BA250041}"/>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A08C639-DBDB-6046-851C-163A210B435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3878002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Drop in info removed for first years</a:t>
            </a:r>
          </a:p>
          <a:p>
            <a:r>
              <a:rPr lang="en-US"/>
              <a:t>Provide details of the service and explain that students with that Faculty receive a dedicated service from the EPS Employability team.</a:t>
            </a:r>
          </a:p>
          <a:p>
            <a:r>
              <a:rPr lang="en-US"/>
              <a:t>Go through the different aspect of our work and how it helps students </a:t>
            </a:r>
            <a:endParaRPr lang="en-US">
              <a:cs typeface="Calibri"/>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0D2BEA-72AB-4A13-936E-1DBF50D5EB7A}"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047591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slide all text">
    <p:spTree>
      <p:nvGrpSpPr>
        <p:cNvPr id="1" name=""/>
        <p:cNvGrpSpPr/>
        <p:nvPr/>
      </p:nvGrpSpPr>
      <p:grpSpPr>
        <a:xfrm>
          <a:off x="0" y="0"/>
          <a:ext cx="0" cy="0"/>
          <a:chOff x="0" y="0"/>
          <a:chExt cx="0" cy="0"/>
        </a:xfrm>
      </p:grpSpPr>
      <p:sp>
        <p:nvSpPr>
          <p:cNvPr id="7" name="Text Placeholder 6"/>
          <p:cNvSpPr>
            <a:spLocks noGrp="1"/>
          </p:cNvSpPr>
          <p:nvPr>
            <p:ph type="body" sz="quarter" idx="10" hasCustomPrompt="1"/>
          </p:nvPr>
        </p:nvSpPr>
        <p:spPr>
          <a:xfrm>
            <a:off x="452968" y="1762126"/>
            <a:ext cx="8837645" cy="4683125"/>
          </a:xfrm>
          <a:prstGeom prst="rect">
            <a:avLst/>
          </a:prstGeom>
        </p:spPr>
        <p:txBody>
          <a:bodyPr/>
          <a:lstStyle>
            <a:lvl1pPr marL="285750" indent="-285750">
              <a:buFont typeface="Arial" charset="0"/>
              <a:buChar char="•"/>
              <a:defRPr sz="2400" baseline="0">
                <a:solidFill>
                  <a:schemeClr val="tx1">
                    <a:lumMod val="75000"/>
                    <a:lumOff val="25000"/>
                  </a:schemeClr>
                </a:solidFill>
              </a:defRPr>
            </a:lvl1pPr>
            <a:lvl2pPr marL="0" indent="0">
              <a:buNone/>
              <a:defRPr sz="2400" baseline="0">
                <a:solidFill>
                  <a:schemeClr val="tx1">
                    <a:lumMod val="75000"/>
                    <a:lumOff val="25000"/>
                  </a:schemeClr>
                </a:solidFill>
              </a:defRPr>
            </a:lvl2pPr>
          </a:lstStyle>
          <a:p>
            <a:r>
              <a:rPr lang="en-US" sz="2400">
                <a:latin typeface="Arial" charset="0"/>
                <a:ea typeface="Arial" charset="0"/>
                <a:cs typeface="Arial" charset="0"/>
              </a:rPr>
              <a:t>PLEASE DO NOT CHANGE THE SIZE OF THIS TEXT BOX</a:t>
            </a:r>
          </a:p>
          <a:p>
            <a:r>
              <a:rPr lang="en-US" sz="2400">
                <a:latin typeface="Arial" charset="0"/>
                <a:ea typeface="Arial" charset="0"/>
                <a:cs typeface="Arial" charset="0"/>
              </a:rPr>
              <a:t>Text must be at least size 24 for accessibility purposes</a:t>
            </a:r>
            <a:endParaRPr lang="en-US" sz="1100" b="1">
              <a:latin typeface="Arial" charset="0"/>
              <a:ea typeface="Arial" charset="0"/>
              <a:cs typeface="Arial" charset="0"/>
            </a:endParaRPr>
          </a:p>
          <a:p>
            <a:pPr marL="285750" indent="-285750">
              <a:buFont typeface="Arial" charset="0"/>
              <a:buChar char="•"/>
            </a:pPr>
            <a:endParaRPr lang="en-US" sz="1600">
              <a:latin typeface="Arial" charset="0"/>
              <a:ea typeface="Arial" charset="0"/>
              <a:cs typeface="Arial" charset="0"/>
            </a:endParaRPr>
          </a:p>
          <a:p>
            <a:pPr marL="0" lvl="1"/>
            <a:r>
              <a:rPr lang="en-GB" altLang="en-US"/>
              <a:t>For maximum impact, avoid overcrowding slides - limit your points to a maximum of 6 per page</a:t>
            </a:r>
          </a:p>
          <a:p>
            <a:pPr lvl="0"/>
            <a:endParaRPr lang="en-US"/>
          </a:p>
        </p:txBody>
      </p:sp>
      <p:sp>
        <p:nvSpPr>
          <p:cNvPr id="9" name="Text Placeholder 5"/>
          <p:cNvSpPr>
            <a:spLocks noGrp="1"/>
          </p:cNvSpPr>
          <p:nvPr>
            <p:ph type="body" sz="quarter" idx="11" hasCustomPrompt="1"/>
          </p:nvPr>
        </p:nvSpPr>
        <p:spPr>
          <a:xfrm>
            <a:off x="537634" y="738554"/>
            <a:ext cx="7759700" cy="575100"/>
          </a:xfrm>
          <a:prstGeom prst="rect">
            <a:avLst/>
          </a:prstGeom>
        </p:spPr>
        <p:txBody>
          <a:bodyPr>
            <a:noAutofit/>
          </a:bodyPr>
          <a:lstStyle>
            <a:lvl1pPr marL="0" indent="0">
              <a:lnSpc>
                <a:spcPct val="100000"/>
              </a:lnSpc>
              <a:spcBef>
                <a:spcPts val="0"/>
              </a:spcBef>
              <a:buNone/>
              <a:defRPr>
                <a:solidFill>
                  <a:schemeClr val="tx1">
                    <a:lumMod val="75000"/>
                    <a:lumOff val="25000"/>
                  </a:schemeClr>
                </a:solidFill>
              </a:defRPr>
            </a:lvl1pPr>
          </a:lstStyle>
          <a:p>
            <a:r>
              <a:rPr lang="en-US" sz="2800" b="1">
                <a:latin typeface="Arial" charset="0"/>
                <a:ea typeface="Arial" charset="0"/>
                <a:cs typeface="Arial" charset="0"/>
              </a:rPr>
              <a:t>Title</a:t>
            </a:r>
          </a:p>
        </p:txBody>
      </p:sp>
    </p:spTree>
    <p:extLst>
      <p:ext uri="{BB962C8B-B14F-4D97-AF65-F5344CB8AC3E}">
        <p14:creationId xmlns:p14="http://schemas.microsoft.com/office/powerpoint/2010/main" val="18307477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Slide text and image">
    <p:spTree>
      <p:nvGrpSpPr>
        <p:cNvPr id="1" name=""/>
        <p:cNvGrpSpPr/>
        <p:nvPr/>
      </p:nvGrpSpPr>
      <p:grpSpPr>
        <a:xfrm>
          <a:off x="0" y="0"/>
          <a:ext cx="0" cy="0"/>
          <a:chOff x="0" y="0"/>
          <a:chExt cx="0" cy="0"/>
        </a:xfrm>
      </p:grpSpPr>
      <p:sp>
        <p:nvSpPr>
          <p:cNvPr id="11" name="Text Placeholder 10"/>
          <p:cNvSpPr>
            <a:spLocks noGrp="1"/>
          </p:cNvSpPr>
          <p:nvPr>
            <p:ph type="body" sz="quarter" idx="11" hasCustomPrompt="1"/>
          </p:nvPr>
        </p:nvSpPr>
        <p:spPr>
          <a:xfrm>
            <a:off x="452967" y="1762126"/>
            <a:ext cx="5295900" cy="4683125"/>
          </a:xfrm>
          <a:prstGeom prst="rect">
            <a:avLst/>
          </a:prstGeom>
        </p:spPr>
        <p:txBody>
          <a:bodyPr/>
          <a:lstStyle>
            <a:lvl1pPr marL="285750" indent="-285750">
              <a:buFont typeface="Arial" charset="0"/>
              <a:buChar char="•"/>
              <a:defRPr sz="2400" b="0" i="0" baseline="0">
                <a:solidFill>
                  <a:schemeClr val="tx1">
                    <a:lumMod val="75000"/>
                    <a:lumOff val="25000"/>
                  </a:schemeClr>
                </a:solidFill>
                <a:latin typeface="+mn-lt"/>
              </a:defRPr>
            </a:lvl1pPr>
          </a:lstStyle>
          <a:p>
            <a:r>
              <a:rPr lang="en-US" sz="2400">
                <a:latin typeface="Arial" charset="0"/>
                <a:ea typeface="Arial" charset="0"/>
                <a:cs typeface="Arial" charset="0"/>
              </a:rPr>
              <a:t>PLEASE DO NOT CHANGE THE SIZE OF THIS TEXT BOX</a:t>
            </a:r>
          </a:p>
          <a:p>
            <a:r>
              <a:rPr lang="en-US" sz="2400">
                <a:latin typeface="Arial" charset="0"/>
                <a:ea typeface="Arial" charset="0"/>
                <a:cs typeface="Arial" charset="0"/>
              </a:rPr>
              <a:t>Headings should be in Arial, size 24</a:t>
            </a:r>
            <a:endParaRPr lang="en-US" sz="1100" b="1">
              <a:latin typeface="Arial" charset="0"/>
              <a:ea typeface="Arial" charset="0"/>
              <a:cs typeface="Arial" charset="0"/>
            </a:endParaRPr>
          </a:p>
          <a:p>
            <a:r>
              <a:rPr lang="en-US" sz="1600">
                <a:latin typeface="Arial" charset="0"/>
                <a:ea typeface="Arial" charset="0"/>
                <a:cs typeface="Arial" charset="0"/>
              </a:rPr>
              <a:t>The rest of your text should be Ariel, size 16</a:t>
            </a:r>
          </a:p>
          <a:p>
            <a:endParaRPr lang="en-US" sz="1600">
              <a:latin typeface="Arial" charset="0"/>
              <a:ea typeface="Arial" charset="0"/>
              <a:cs typeface="Arial" charset="0"/>
            </a:endParaRPr>
          </a:p>
          <a:p>
            <a:r>
              <a:rPr lang="en-US" sz="1600">
                <a:latin typeface="Arial" charset="0"/>
                <a:ea typeface="Arial" charset="0"/>
                <a:cs typeface="Arial" charset="0"/>
              </a:rPr>
              <a:t>Bullet points should be used as below</a:t>
            </a:r>
          </a:p>
          <a:p>
            <a:pPr marL="285750" indent="-285750">
              <a:buFont typeface="Arial" charset="0"/>
              <a:buChar char="•"/>
            </a:pPr>
            <a:r>
              <a:rPr lang="en-US" sz="1600">
                <a:latin typeface="Arial" charset="0"/>
                <a:ea typeface="Arial" charset="0"/>
                <a:cs typeface="Arial" charset="0"/>
              </a:rPr>
              <a:t>Bullet </a:t>
            </a:r>
          </a:p>
          <a:p>
            <a:pPr marL="285750" indent="-285750">
              <a:buFont typeface="Arial" charset="0"/>
              <a:buChar char="•"/>
            </a:pPr>
            <a:r>
              <a:rPr lang="en-US" sz="1600">
                <a:latin typeface="Arial" charset="0"/>
                <a:ea typeface="Arial" charset="0"/>
                <a:cs typeface="Arial" charset="0"/>
              </a:rPr>
              <a:t>Bullet</a:t>
            </a:r>
          </a:p>
          <a:p>
            <a:pPr marL="285750" indent="-285750">
              <a:buFont typeface="Arial" charset="0"/>
              <a:buChar char="•"/>
            </a:pPr>
            <a:r>
              <a:rPr lang="en-US" sz="1600">
                <a:latin typeface="Arial" charset="0"/>
                <a:ea typeface="Arial" charset="0"/>
                <a:cs typeface="Arial" charset="0"/>
              </a:rPr>
              <a:t>Bullet</a:t>
            </a:r>
          </a:p>
        </p:txBody>
      </p:sp>
      <p:sp>
        <p:nvSpPr>
          <p:cNvPr id="5" name="Picture Placeholder 4"/>
          <p:cNvSpPr>
            <a:spLocks noGrp="1"/>
          </p:cNvSpPr>
          <p:nvPr>
            <p:ph type="pic" sz="quarter" idx="10"/>
          </p:nvPr>
        </p:nvSpPr>
        <p:spPr>
          <a:xfrm>
            <a:off x="6134101" y="1762126"/>
            <a:ext cx="5509684" cy="3238138"/>
          </a:xfrm>
          <a:prstGeom prst="rect">
            <a:avLst/>
          </a:prstGeom>
        </p:spPr>
        <p:txBody>
          <a:bodyPr/>
          <a:lstStyle>
            <a:lvl1pPr>
              <a:defRPr>
                <a:solidFill>
                  <a:schemeClr val="tx1">
                    <a:lumMod val="75000"/>
                    <a:lumOff val="25000"/>
                  </a:schemeClr>
                </a:solidFill>
              </a:defRPr>
            </a:lvl1pPr>
          </a:lstStyle>
          <a:p>
            <a:r>
              <a:rPr lang="en-US"/>
              <a:t>Click icon to add picture</a:t>
            </a:r>
          </a:p>
        </p:txBody>
      </p:sp>
      <p:sp>
        <p:nvSpPr>
          <p:cNvPr id="7" name="Text Placeholder 5"/>
          <p:cNvSpPr>
            <a:spLocks noGrp="1"/>
          </p:cNvSpPr>
          <p:nvPr>
            <p:ph type="body" sz="quarter" idx="13" hasCustomPrompt="1"/>
          </p:nvPr>
        </p:nvSpPr>
        <p:spPr>
          <a:xfrm>
            <a:off x="537634" y="738554"/>
            <a:ext cx="7759700" cy="575100"/>
          </a:xfrm>
          <a:prstGeom prst="rect">
            <a:avLst/>
          </a:prstGeom>
        </p:spPr>
        <p:txBody>
          <a:bodyPr>
            <a:noAutofit/>
          </a:bodyPr>
          <a:lstStyle>
            <a:lvl1pPr marL="0" indent="0">
              <a:lnSpc>
                <a:spcPct val="100000"/>
              </a:lnSpc>
              <a:spcBef>
                <a:spcPts val="0"/>
              </a:spcBef>
              <a:buNone/>
              <a:defRPr>
                <a:solidFill>
                  <a:schemeClr val="tx1">
                    <a:lumMod val="75000"/>
                    <a:lumOff val="25000"/>
                  </a:schemeClr>
                </a:solidFill>
              </a:defRPr>
            </a:lvl1pPr>
          </a:lstStyle>
          <a:p>
            <a:r>
              <a:rPr lang="en-US" sz="2800" b="1">
                <a:latin typeface="Arial" charset="0"/>
                <a:ea typeface="Arial" charset="0"/>
                <a:cs typeface="Arial" charset="0"/>
              </a:rPr>
              <a:t>Title</a:t>
            </a:r>
          </a:p>
        </p:txBody>
      </p:sp>
    </p:spTree>
    <p:extLst>
      <p:ext uri="{BB962C8B-B14F-4D97-AF65-F5344CB8AC3E}">
        <p14:creationId xmlns:p14="http://schemas.microsoft.com/office/powerpoint/2010/main" val="42466202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slide all image">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537634" y="1762125"/>
            <a:ext cx="8722113" cy="4719697"/>
          </a:xfrm>
          <a:prstGeom prst="rect">
            <a:avLst/>
          </a:prstGeom>
        </p:spPr>
        <p:txBody>
          <a:bodyPr/>
          <a:lstStyle>
            <a:lvl1pPr>
              <a:defRPr>
                <a:solidFill>
                  <a:schemeClr val="tx1">
                    <a:lumMod val="75000"/>
                    <a:lumOff val="25000"/>
                  </a:schemeClr>
                </a:solidFill>
              </a:defRPr>
            </a:lvl1pPr>
          </a:lstStyle>
          <a:p>
            <a:r>
              <a:rPr lang="en-US"/>
              <a:t>Click icon to add picture</a:t>
            </a:r>
          </a:p>
        </p:txBody>
      </p:sp>
      <p:sp>
        <p:nvSpPr>
          <p:cNvPr id="4" name="Text Placeholder 5"/>
          <p:cNvSpPr>
            <a:spLocks noGrp="1"/>
          </p:cNvSpPr>
          <p:nvPr>
            <p:ph type="body" sz="quarter" idx="11" hasCustomPrompt="1"/>
          </p:nvPr>
        </p:nvSpPr>
        <p:spPr>
          <a:xfrm>
            <a:off x="537634" y="738554"/>
            <a:ext cx="7759700" cy="575100"/>
          </a:xfrm>
          <a:prstGeom prst="rect">
            <a:avLst/>
          </a:prstGeom>
        </p:spPr>
        <p:txBody>
          <a:bodyPr>
            <a:noAutofit/>
          </a:bodyPr>
          <a:lstStyle>
            <a:lvl1pPr marL="0" indent="0">
              <a:lnSpc>
                <a:spcPct val="100000"/>
              </a:lnSpc>
              <a:spcBef>
                <a:spcPts val="0"/>
              </a:spcBef>
              <a:buNone/>
              <a:defRPr>
                <a:solidFill>
                  <a:schemeClr val="tx1">
                    <a:lumMod val="75000"/>
                    <a:lumOff val="25000"/>
                  </a:schemeClr>
                </a:solidFill>
              </a:defRPr>
            </a:lvl1pPr>
          </a:lstStyle>
          <a:p>
            <a:r>
              <a:rPr lang="en-US" sz="2800" b="1">
                <a:latin typeface="Arial" charset="0"/>
                <a:ea typeface="Arial" charset="0"/>
                <a:cs typeface="Arial" charset="0"/>
              </a:rPr>
              <a:t>Title</a:t>
            </a:r>
          </a:p>
        </p:txBody>
      </p:sp>
    </p:spTree>
    <p:extLst>
      <p:ext uri="{BB962C8B-B14F-4D97-AF65-F5344CB8AC3E}">
        <p14:creationId xmlns:p14="http://schemas.microsoft.com/office/powerpoint/2010/main" val="15409150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all text">
    <p:spTree>
      <p:nvGrpSpPr>
        <p:cNvPr id="1" name=""/>
        <p:cNvGrpSpPr/>
        <p:nvPr/>
      </p:nvGrpSpPr>
      <p:grpSpPr>
        <a:xfrm>
          <a:off x="0" y="0"/>
          <a:ext cx="0" cy="0"/>
          <a:chOff x="0" y="0"/>
          <a:chExt cx="0" cy="0"/>
        </a:xfrm>
      </p:grpSpPr>
      <p:sp>
        <p:nvSpPr>
          <p:cNvPr id="7" name="Text Placeholder 6"/>
          <p:cNvSpPr>
            <a:spLocks noGrp="1"/>
          </p:cNvSpPr>
          <p:nvPr>
            <p:ph type="body" sz="quarter" idx="10" hasCustomPrompt="1"/>
          </p:nvPr>
        </p:nvSpPr>
        <p:spPr>
          <a:xfrm>
            <a:off x="452968" y="1762126"/>
            <a:ext cx="8837645" cy="4683125"/>
          </a:xfrm>
          <a:prstGeom prst="rect">
            <a:avLst/>
          </a:prstGeom>
        </p:spPr>
        <p:txBody>
          <a:bodyPr/>
          <a:lstStyle>
            <a:lvl1pPr marL="285750" indent="-285750">
              <a:buFont typeface="Arial" charset="0"/>
              <a:buChar char="•"/>
              <a:defRPr sz="2400" baseline="0">
                <a:solidFill>
                  <a:schemeClr val="tx1">
                    <a:lumMod val="75000"/>
                    <a:lumOff val="25000"/>
                  </a:schemeClr>
                </a:solidFill>
              </a:defRPr>
            </a:lvl1pPr>
            <a:lvl2pPr marL="0" indent="0">
              <a:buNone/>
              <a:defRPr sz="2400" baseline="0">
                <a:solidFill>
                  <a:schemeClr val="tx1">
                    <a:lumMod val="75000"/>
                    <a:lumOff val="25000"/>
                  </a:schemeClr>
                </a:solidFill>
              </a:defRPr>
            </a:lvl2pPr>
          </a:lstStyle>
          <a:p>
            <a:r>
              <a:rPr lang="en-US" sz="2400">
                <a:latin typeface="Arial" charset="0"/>
                <a:ea typeface="Arial" charset="0"/>
                <a:cs typeface="Arial" charset="0"/>
              </a:rPr>
              <a:t>PLEASE DO NOT CHANGE THE SIZE OF THIS TEXT BOX</a:t>
            </a:r>
          </a:p>
          <a:p>
            <a:r>
              <a:rPr lang="en-US" sz="2400">
                <a:latin typeface="Arial" charset="0"/>
                <a:ea typeface="Arial" charset="0"/>
                <a:cs typeface="Arial" charset="0"/>
              </a:rPr>
              <a:t>Text must be at least size 24 for accessibility purposes</a:t>
            </a:r>
            <a:endParaRPr lang="en-US" sz="1100" b="1">
              <a:latin typeface="Arial" charset="0"/>
              <a:ea typeface="Arial" charset="0"/>
              <a:cs typeface="Arial" charset="0"/>
            </a:endParaRPr>
          </a:p>
          <a:p>
            <a:pPr marL="285750" indent="-285750">
              <a:buFont typeface="Arial" charset="0"/>
              <a:buChar char="•"/>
            </a:pPr>
            <a:endParaRPr lang="en-US" sz="1600">
              <a:latin typeface="Arial" charset="0"/>
              <a:ea typeface="Arial" charset="0"/>
              <a:cs typeface="Arial" charset="0"/>
            </a:endParaRPr>
          </a:p>
          <a:p>
            <a:pPr marL="0" lvl="1"/>
            <a:r>
              <a:rPr lang="en-GB" altLang="en-US"/>
              <a:t>For maximum impact, avoid overcrowding slides - limit your points to a maximum of 6 per page</a:t>
            </a:r>
          </a:p>
          <a:p>
            <a:pPr lvl="0"/>
            <a:endParaRPr lang="en-US"/>
          </a:p>
        </p:txBody>
      </p:sp>
      <p:sp>
        <p:nvSpPr>
          <p:cNvPr id="9" name="Text Placeholder 5"/>
          <p:cNvSpPr>
            <a:spLocks noGrp="1"/>
          </p:cNvSpPr>
          <p:nvPr>
            <p:ph type="body" sz="quarter" idx="11" hasCustomPrompt="1"/>
          </p:nvPr>
        </p:nvSpPr>
        <p:spPr>
          <a:xfrm>
            <a:off x="537634" y="738554"/>
            <a:ext cx="7759700" cy="575100"/>
          </a:xfrm>
          <a:prstGeom prst="rect">
            <a:avLst/>
          </a:prstGeom>
        </p:spPr>
        <p:txBody>
          <a:bodyPr>
            <a:noAutofit/>
          </a:bodyPr>
          <a:lstStyle>
            <a:lvl1pPr marL="0" indent="0">
              <a:lnSpc>
                <a:spcPct val="100000"/>
              </a:lnSpc>
              <a:spcBef>
                <a:spcPts val="0"/>
              </a:spcBef>
              <a:buNone/>
              <a:defRPr>
                <a:solidFill>
                  <a:schemeClr val="tx1">
                    <a:lumMod val="75000"/>
                    <a:lumOff val="25000"/>
                  </a:schemeClr>
                </a:solidFill>
              </a:defRPr>
            </a:lvl1pPr>
          </a:lstStyle>
          <a:p>
            <a:r>
              <a:rPr lang="en-US" sz="2800" b="1">
                <a:latin typeface="Arial" charset="0"/>
                <a:ea typeface="Arial" charset="0"/>
                <a:cs typeface="Arial" charset="0"/>
              </a:rPr>
              <a:t>Title</a:t>
            </a:r>
          </a:p>
        </p:txBody>
      </p:sp>
    </p:spTree>
    <p:extLst>
      <p:ext uri="{BB962C8B-B14F-4D97-AF65-F5344CB8AC3E}">
        <p14:creationId xmlns:p14="http://schemas.microsoft.com/office/powerpoint/2010/main" val="1984956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Slide text and image">
    <p:spTree>
      <p:nvGrpSpPr>
        <p:cNvPr id="1" name=""/>
        <p:cNvGrpSpPr/>
        <p:nvPr/>
      </p:nvGrpSpPr>
      <p:grpSpPr>
        <a:xfrm>
          <a:off x="0" y="0"/>
          <a:ext cx="0" cy="0"/>
          <a:chOff x="0" y="0"/>
          <a:chExt cx="0" cy="0"/>
        </a:xfrm>
      </p:grpSpPr>
      <p:sp>
        <p:nvSpPr>
          <p:cNvPr id="11" name="Text Placeholder 10"/>
          <p:cNvSpPr>
            <a:spLocks noGrp="1"/>
          </p:cNvSpPr>
          <p:nvPr>
            <p:ph type="body" sz="quarter" idx="11" hasCustomPrompt="1"/>
          </p:nvPr>
        </p:nvSpPr>
        <p:spPr>
          <a:xfrm>
            <a:off x="452967" y="1762126"/>
            <a:ext cx="5295900" cy="4683125"/>
          </a:xfrm>
          <a:prstGeom prst="rect">
            <a:avLst/>
          </a:prstGeom>
        </p:spPr>
        <p:txBody>
          <a:bodyPr/>
          <a:lstStyle>
            <a:lvl1pPr marL="285750" indent="-285750">
              <a:buFont typeface="Arial" charset="0"/>
              <a:buChar char="•"/>
              <a:defRPr sz="2400" b="0" i="0" baseline="0">
                <a:solidFill>
                  <a:schemeClr val="tx1">
                    <a:lumMod val="75000"/>
                    <a:lumOff val="25000"/>
                  </a:schemeClr>
                </a:solidFill>
                <a:latin typeface="+mn-lt"/>
              </a:defRPr>
            </a:lvl1pPr>
          </a:lstStyle>
          <a:p>
            <a:r>
              <a:rPr lang="en-US" sz="2400">
                <a:latin typeface="Arial" charset="0"/>
                <a:ea typeface="Arial" charset="0"/>
                <a:cs typeface="Arial" charset="0"/>
              </a:rPr>
              <a:t>PLEASE DO NOT CHANGE THE SIZE OF THIS TEXT BOX</a:t>
            </a:r>
          </a:p>
          <a:p>
            <a:r>
              <a:rPr lang="en-US" sz="2400">
                <a:latin typeface="Arial" charset="0"/>
                <a:ea typeface="Arial" charset="0"/>
                <a:cs typeface="Arial" charset="0"/>
              </a:rPr>
              <a:t>Headings should be in Arial, size 24</a:t>
            </a:r>
            <a:endParaRPr lang="en-US" sz="1100" b="1">
              <a:latin typeface="Arial" charset="0"/>
              <a:ea typeface="Arial" charset="0"/>
              <a:cs typeface="Arial" charset="0"/>
            </a:endParaRPr>
          </a:p>
          <a:p>
            <a:r>
              <a:rPr lang="en-US" sz="1600">
                <a:latin typeface="Arial" charset="0"/>
                <a:ea typeface="Arial" charset="0"/>
                <a:cs typeface="Arial" charset="0"/>
              </a:rPr>
              <a:t>The rest of your text should be Ariel, size 16</a:t>
            </a:r>
          </a:p>
          <a:p>
            <a:endParaRPr lang="en-US" sz="1600">
              <a:latin typeface="Arial" charset="0"/>
              <a:ea typeface="Arial" charset="0"/>
              <a:cs typeface="Arial" charset="0"/>
            </a:endParaRPr>
          </a:p>
          <a:p>
            <a:r>
              <a:rPr lang="en-US" sz="1600">
                <a:latin typeface="Arial" charset="0"/>
                <a:ea typeface="Arial" charset="0"/>
                <a:cs typeface="Arial" charset="0"/>
              </a:rPr>
              <a:t>Bullet points should be used as below</a:t>
            </a:r>
          </a:p>
          <a:p>
            <a:pPr marL="285750" indent="-285750">
              <a:buFont typeface="Arial" charset="0"/>
              <a:buChar char="•"/>
            </a:pPr>
            <a:r>
              <a:rPr lang="en-US" sz="1600">
                <a:latin typeface="Arial" charset="0"/>
                <a:ea typeface="Arial" charset="0"/>
                <a:cs typeface="Arial" charset="0"/>
              </a:rPr>
              <a:t>Bullet </a:t>
            </a:r>
          </a:p>
          <a:p>
            <a:pPr marL="285750" indent="-285750">
              <a:buFont typeface="Arial" charset="0"/>
              <a:buChar char="•"/>
            </a:pPr>
            <a:r>
              <a:rPr lang="en-US" sz="1600">
                <a:latin typeface="Arial" charset="0"/>
                <a:ea typeface="Arial" charset="0"/>
                <a:cs typeface="Arial" charset="0"/>
              </a:rPr>
              <a:t>Bullet</a:t>
            </a:r>
          </a:p>
          <a:p>
            <a:pPr marL="285750" indent="-285750">
              <a:buFont typeface="Arial" charset="0"/>
              <a:buChar char="•"/>
            </a:pPr>
            <a:r>
              <a:rPr lang="en-US" sz="1600">
                <a:latin typeface="Arial" charset="0"/>
                <a:ea typeface="Arial" charset="0"/>
                <a:cs typeface="Arial" charset="0"/>
              </a:rPr>
              <a:t>Bullet</a:t>
            </a:r>
          </a:p>
        </p:txBody>
      </p:sp>
      <p:sp>
        <p:nvSpPr>
          <p:cNvPr id="5" name="Picture Placeholder 4"/>
          <p:cNvSpPr>
            <a:spLocks noGrp="1"/>
          </p:cNvSpPr>
          <p:nvPr>
            <p:ph type="pic" sz="quarter" idx="10"/>
          </p:nvPr>
        </p:nvSpPr>
        <p:spPr>
          <a:xfrm>
            <a:off x="6134101" y="1762126"/>
            <a:ext cx="5509684" cy="3238138"/>
          </a:xfrm>
          <a:prstGeom prst="rect">
            <a:avLst/>
          </a:prstGeom>
        </p:spPr>
        <p:txBody>
          <a:bodyPr/>
          <a:lstStyle>
            <a:lvl1pPr>
              <a:defRPr>
                <a:solidFill>
                  <a:schemeClr val="tx1">
                    <a:lumMod val="75000"/>
                    <a:lumOff val="25000"/>
                  </a:schemeClr>
                </a:solidFill>
              </a:defRPr>
            </a:lvl1pPr>
          </a:lstStyle>
          <a:p>
            <a:r>
              <a:rPr lang="en-US"/>
              <a:t>Click icon to add picture</a:t>
            </a:r>
          </a:p>
        </p:txBody>
      </p:sp>
      <p:sp>
        <p:nvSpPr>
          <p:cNvPr id="7" name="Text Placeholder 5"/>
          <p:cNvSpPr>
            <a:spLocks noGrp="1"/>
          </p:cNvSpPr>
          <p:nvPr>
            <p:ph type="body" sz="quarter" idx="13" hasCustomPrompt="1"/>
          </p:nvPr>
        </p:nvSpPr>
        <p:spPr>
          <a:xfrm>
            <a:off x="537634" y="738554"/>
            <a:ext cx="7759700" cy="575100"/>
          </a:xfrm>
          <a:prstGeom prst="rect">
            <a:avLst/>
          </a:prstGeom>
        </p:spPr>
        <p:txBody>
          <a:bodyPr>
            <a:noAutofit/>
          </a:bodyPr>
          <a:lstStyle>
            <a:lvl1pPr marL="0" indent="0">
              <a:lnSpc>
                <a:spcPct val="100000"/>
              </a:lnSpc>
              <a:spcBef>
                <a:spcPts val="0"/>
              </a:spcBef>
              <a:buNone/>
              <a:defRPr>
                <a:solidFill>
                  <a:schemeClr val="tx1">
                    <a:lumMod val="75000"/>
                    <a:lumOff val="25000"/>
                  </a:schemeClr>
                </a:solidFill>
              </a:defRPr>
            </a:lvl1pPr>
          </a:lstStyle>
          <a:p>
            <a:r>
              <a:rPr lang="en-US" sz="2800" b="1">
                <a:latin typeface="Arial" charset="0"/>
                <a:ea typeface="Arial" charset="0"/>
                <a:cs typeface="Arial" charset="0"/>
              </a:rPr>
              <a:t>Title</a:t>
            </a:r>
          </a:p>
        </p:txBody>
      </p:sp>
    </p:spTree>
    <p:extLst>
      <p:ext uri="{BB962C8B-B14F-4D97-AF65-F5344CB8AC3E}">
        <p14:creationId xmlns:p14="http://schemas.microsoft.com/office/powerpoint/2010/main" val="40363438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slide all image">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537634" y="1762125"/>
            <a:ext cx="8722113" cy="4719697"/>
          </a:xfrm>
          <a:prstGeom prst="rect">
            <a:avLst/>
          </a:prstGeom>
        </p:spPr>
        <p:txBody>
          <a:bodyPr/>
          <a:lstStyle>
            <a:lvl1pPr>
              <a:defRPr>
                <a:solidFill>
                  <a:schemeClr val="tx1">
                    <a:lumMod val="75000"/>
                    <a:lumOff val="25000"/>
                  </a:schemeClr>
                </a:solidFill>
              </a:defRPr>
            </a:lvl1pPr>
          </a:lstStyle>
          <a:p>
            <a:r>
              <a:rPr lang="en-US"/>
              <a:t>Click icon to add picture</a:t>
            </a:r>
          </a:p>
        </p:txBody>
      </p:sp>
      <p:sp>
        <p:nvSpPr>
          <p:cNvPr id="4" name="Text Placeholder 5"/>
          <p:cNvSpPr>
            <a:spLocks noGrp="1"/>
          </p:cNvSpPr>
          <p:nvPr>
            <p:ph type="body" sz="quarter" idx="11" hasCustomPrompt="1"/>
          </p:nvPr>
        </p:nvSpPr>
        <p:spPr>
          <a:xfrm>
            <a:off x="537634" y="738554"/>
            <a:ext cx="7759700" cy="575100"/>
          </a:xfrm>
          <a:prstGeom prst="rect">
            <a:avLst/>
          </a:prstGeom>
        </p:spPr>
        <p:txBody>
          <a:bodyPr>
            <a:noAutofit/>
          </a:bodyPr>
          <a:lstStyle>
            <a:lvl1pPr marL="0" indent="0">
              <a:lnSpc>
                <a:spcPct val="100000"/>
              </a:lnSpc>
              <a:spcBef>
                <a:spcPts val="0"/>
              </a:spcBef>
              <a:buNone/>
              <a:defRPr>
                <a:solidFill>
                  <a:schemeClr val="tx1">
                    <a:lumMod val="75000"/>
                    <a:lumOff val="25000"/>
                  </a:schemeClr>
                </a:solidFill>
              </a:defRPr>
            </a:lvl1pPr>
          </a:lstStyle>
          <a:p>
            <a:r>
              <a:rPr lang="en-US" sz="2800" b="1">
                <a:latin typeface="Arial" charset="0"/>
                <a:ea typeface="Arial" charset="0"/>
                <a:cs typeface="Arial" charset="0"/>
              </a:rPr>
              <a:t>Title</a:t>
            </a:r>
          </a:p>
        </p:txBody>
      </p:sp>
    </p:spTree>
    <p:extLst>
      <p:ext uri="{BB962C8B-B14F-4D97-AF65-F5344CB8AC3E}">
        <p14:creationId xmlns:p14="http://schemas.microsoft.com/office/powerpoint/2010/main" val="17038887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lternate Content slide all text">
    <p:spTree>
      <p:nvGrpSpPr>
        <p:cNvPr id="1" name=""/>
        <p:cNvGrpSpPr/>
        <p:nvPr/>
      </p:nvGrpSpPr>
      <p:grpSpPr>
        <a:xfrm>
          <a:off x="0" y="0"/>
          <a:ext cx="0" cy="0"/>
          <a:chOff x="0" y="0"/>
          <a:chExt cx="0" cy="0"/>
        </a:xfrm>
      </p:grpSpPr>
      <p:sp>
        <p:nvSpPr>
          <p:cNvPr id="7" name="Text Placeholder 6"/>
          <p:cNvSpPr>
            <a:spLocks noGrp="1"/>
          </p:cNvSpPr>
          <p:nvPr>
            <p:ph type="body" sz="quarter" idx="10" hasCustomPrompt="1"/>
          </p:nvPr>
        </p:nvSpPr>
        <p:spPr>
          <a:xfrm>
            <a:off x="452968" y="1762126"/>
            <a:ext cx="8837645" cy="4683125"/>
          </a:xfrm>
          <a:prstGeom prst="rect">
            <a:avLst/>
          </a:prstGeom>
        </p:spPr>
        <p:txBody>
          <a:bodyPr/>
          <a:lstStyle>
            <a:lvl1pPr marL="285750" indent="-285750">
              <a:buFont typeface="Arial" charset="0"/>
              <a:buChar char="•"/>
              <a:defRPr sz="2400" baseline="0">
                <a:solidFill>
                  <a:schemeClr val="tx1">
                    <a:lumMod val="75000"/>
                    <a:lumOff val="25000"/>
                  </a:schemeClr>
                </a:solidFill>
              </a:defRPr>
            </a:lvl1pPr>
            <a:lvl2pPr marL="0" indent="0">
              <a:buNone/>
              <a:defRPr sz="2400" baseline="0">
                <a:solidFill>
                  <a:schemeClr val="tx1">
                    <a:lumMod val="75000"/>
                    <a:lumOff val="25000"/>
                  </a:schemeClr>
                </a:solidFill>
              </a:defRPr>
            </a:lvl2pPr>
          </a:lstStyle>
          <a:p>
            <a:r>
              <a:rPr lang="en-US" sz="2400">
                <a:latin typeface="Arial" charset="0"/>
                <a:ea typeface="Arial" charset="0"/>
                <a:cs typeface="Arial" charset="0"/>
              </a:rPr>
              <a:t>PLEASE DO NOT CHANGE THE SIZE OF THIS TEXT BOX</a:t>
            </a:r>
          </a:p>
          <a:p>
            <a:r>
              <a:rPr lang="en-US" sz="2400">
                <a:latin typeface="Arial" charset="0"/>
                <a:ea typeface="Arial" charset="0"/>
                <a:cs typeface="Arial" charset="0"/>
              </a:rPr>
              <a:t>Text must be at least size 24 for accessibility purposes</a:t>
            </a:r>
            <a:endParaRPr lang="en-US" sz="1100" b="1">
              <a:latin typeface="Arial" charset="0"/>
              <a:ea typeface="Arial" charset="0"/>
              <a:cs typeface="Arial" charset="0"/>
            </a:endParaRPr>
          </a:p>
          <a:p>
            <a:pPr marL="285750" indent="-285750">
              <a:buFont typeface="Arial" charset="0"/>
              <a:buChar char="•"/>
            </a:pPr>
            <a:endParaRPr lang="en-US" sz="1600">
              <a:latin typeface="Arial" charset="0"/>
              <a:ea typeface="Arial" charset="0"/>
              <a:cs typeface="Arial" charset="0"/>
            </a:endParaRPr>
          </a:p>
          <a:p>
            <a:pPr marL="0" lvl="1"/>
            <a:r>
              <a:rPr lang="en-GB" altLang="en-US"/>
              <a:t>For maximum impact, avoid overcrowding slides - limit your points to a maximum of 6 per page</a:t>
            </a:r>
          </a:p>
          <a:p>
            <a:pPr lvl="0"/>
            <a:endParaRPr lang="en-US"/>
          </a:p>
        </p:txBody>
      </p:sp>
      <p:sp>
        <p:nvSpPr>
          <p:cNvPr id="9" name="Text Placeholder 5"/>
          <p:cNvSpPr>
            <a:spLocks noGrp="1"/>
          </p:cNvSpPr>
          <p:nvPr>
            <p:ph type="body" sz="quarter" idx="11" hasCustomPrompt="1"/>
          </p:nvPr>
        </p:nvSpPr>
        <p:spPr>
          <a:xfrm>
            <a:off x="537634" y="738554"/>
            <a:ext cx="7759700" cy="575100"/>
          </a:xfrm>
          <a:prstGeom prst="rect">
            <a:avLst/>
          </a:prstGeom>
        </p:spPr>
        <p:txBody>
          <a:bodyPr>
            <a:noAutofit/>
          </a:bodyPr>
          <a:lstStyle>
            <a:lvl1pPr marL="0" indent="0">
              <a:lnSpc>
                <a:spcPct val="100000"/>
              </a:lnSpc>
              <a:spcBef>
                <a:spcPts val="0"/>
              </a:spcBef>
              <a:buNone/>
              <a:defRPr>
                <a:solidFill>
                  <a:schemeClr val="tx1">
                    <a:lumMod val="75000"/>
                    <a:lumOff val="25000"/>
                  </a:schemeClr>
                </a:solidFill>
              </a:defRPr>
            </a:lvl1pPr>
          </a:lstStyle>
          <a:p>
            <a:r>
              <a:rPr lang="en-US" sz="2800" b="1">
                <a:latin typeface="Arial" charset="0"/>
                <a:ea typeface="Arial" charset="0"/>
                <a:cs typeface="Arial" charset="0"/>
              </a:rPr>
              <a:t>Title</a:t>
            </a:r>
          </a:p>
        </p:txBody>
      </p:sp>
    </p:spTree>
    <p:extLst>
      <p:ext uri="{BB962C8B-B14F-4D97-AF65-F5344CB8AC3E}">
        <p14:creationId xmlns:p14="http://schemas.microsoft.com/office/powerpoint/2010/main" val="34535793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lternate Content Slide text and image">
    <p:spTree>
      <p:nvGrpSpPr>
        <p:cNvPr id="1" name=""/>
        <p:cNvGrpSpPr/>
        <p:nvPr/>
      </p:nvGrpSpPr>
      <p:grpSpPr>
        <a:xfrm>
          <a:off x="0" y="0"/>
          <a:ext cx="0" cy="0"/>
          <a:chOff x="0" y="0"/>
          <a:chExt cx="0" cy="0"/>
        </a:xfrm>
      </p:grpSpPr>
      <p:sp>
        <p:nvSpPr>
          <p:cNvPr id="11" name="Text Placeholder 10"/>
          <p:cNvSpPr>
            <a:spLocks noGrp="1"/>
          </p:cNvSpPr>
          <p:nvPr>
            <p:ph type="body" sz="quarter" idx="11" hasCustomPrompt="1"/>
          </p:nvPr>
        </p:nvSpPr>
        <p:spPr>
          <a:xfrm>
            <a:off x="452967" y="1762126"/>
            <a:ext cx="5295900" cy="4683125"/>
          </a:xfrm>
          <a:prstGeom prst="rect">
            <a:avLst/>
          </a:prstGeom>
        </p:spPr>
        <p:txBody>
          <a:bodyPr/>
          <a:lstStyle>
            <a:lvl1pPr marL="285750" indent="-285750">
              <a:buFont typeface="Arial" charset="0"/>
              <a:buChar char="•"/>
              <a:defRPr sz="2400" b="0" i="0" baseline="0">
                <a:solidFill>
                  <a:schemeClr val="tx1">
                    <a:lumMod val="75000"/>
                    <a:lumOff val="25000"/>
                  </a:schemeClr>
                </a:solidFill>
                <a:latin typeface="+mn-lt"/>
              </a:defRPr>
            </a:lvl1pPr>
          </a:lstStyle>
          <a:p>
            <a:r>
              <a:rPr lang="en-US" sz="2400">
                <a:latin typeface="Arial" charset="0"/>
                <a:ea typeface="Arial" charset="0"/>
                <a:cs typeface="Arial" charset="0"/>
              </a:rPr>
              <a:t>PLEASE DO NOT CHANGE THE SIZE OF THIS TEXT BOX</a:t>
            </a:r>
          </a:p>
          <a:p>
            <a:r>
              <a:rPr lang="en-US" sz="2400">
                <a:latin typeface="Arial" charset="0"/>
                <a:ea typeface="Arial" charset="0"/>
                <a:cs typeface="Arial" charset="0"/>
              </a:rPr>
              <a:t>Headings should be in Arial, size 24</a:t>
            </a:r>
            <a:endParaRPr lang="en-US" sz="1100" b="1">
              <a:latin typeface="Arial" charset="0"/>
              <a:ea typeface="Arial" charset="0"/>
              <a:cs typeface="Arial" charset="0"/>
            </a:endParaRPr>
          </a:p>
          <a:p>
            <a:r>
              <a:rPr lang="en-US" sz="1600">
                <a:latin typeface="Arial" charset="0"/>
                <a:ea typeface="Arial" charset="0"/>
                <a:cs typeface="Arial" charset="0"/>
              </a:rPr>
              <a:t>The rest of your text should be Ariel, size 16</a:t>
            </a:r>
          </a:p>
          <a:p>
            <a:endParaRPr lang="en-US" sz="1600">
              <a:latin typeface="Arial" charset="0"/>
              <a:ea typeface="Arial" charset="0"/>
              <a:cs typeface="Arial" charset="0"/>
            </a:endParaRPr>
          </a:p>
          <a:p>
            <a:r>
              <a:rPr lang="en-US" sz="1600">
                <a:latin typeface="Arial" charset="0"/>
                <a:ea typeface="Arial" charset="0"/>
                <a:cs typeface="Arial" charset="0"/>
              </a:rPr>
              <a:t>Bullet points should be used as below</a:t>
            </a:r>
          </a:p>
          <a:p>
            <a:pPr marL="285750" indent="-285750">
              <a:buFont typeface="Arial" charset="0"/>
              <a:buChar char="•"/>
            </a:pPr>
            <a:r>
              <a:rPr lang="en-US" sz="1600">
                <a:latin typeface="Arial" charset="0"/>
                <a:ea typeface="Arial" charset="0"/>
                <a:cs typeface="Arial" charset="0"/>
              </a:rPr>
              <a:t>Bullet </a:t>
            </a:r>
          </a:p>
          <a:p>
            <a:pPr marL="285750" indent="-285750">
              <a:buFont typeface="Arial" charset="0"/>
              <a:buChar char="•"/>
            </a:pPr>
            <a:r>
              <a:rPr lang="en-US" sz="1600">
                <a:latin typeface="Arial" charset="0"/>
                <a:ea typeface="Arial" charset="0"/>
                <a:cs typeface="Arial" charset="0"/>
              </a:rPr>
              <a:t>Bullet</a:t>
            </a:r>
          </a:p>
          <a:p>
            <a:pPr marL="285750" indent="-285750">
              <a:buFont typeface="Arial" charset="0"/>
              <a:buChar char="•"/>
            </a:pPr>
            <a:r>
              <a:rPr lang="en-US" sz="1600">
                <a:latin typeface="Arial" charset="0"/>
                <a:ea typeface="Arial" charset="0"/>
                <a:cs typeface="Arial" charset="0"/>
              </a:rPr>
              <a:t>Bullet</a:t>
            </a:r>
          </a:p>
        </p:txBody>
      </p:sp>
      <p:sp>
        <p:nvSpPr>
          <p:cNvPr id="5" name="Picture Placeholder 4"/>
          <p:cNvSpPr>
            <a:spLocks noGrp="1"/>
          </p:cNvSpPr>
          <p:nvPr>
            <p:ph type="pic" sz="quarter" idx="10"/>
          </p:nvPr>
        </p:nvSpPr>
        <p:spPr>
          <a:xfrm>
            <a:off x="6134101" y="1762126"/>
            <a:ext cx="5509684" cy="3238138"/>
          </a:xfrm>
          <a:prstGeom prst="rect">
            <a:avLst/>
          </a:prstGeom>
        </p:spPr>
        <p:txBody>
          <a:bodyPr/>
          <a:lstStyle>
            <a:lvl1pPr>
              <a:defRPr>
                <a:solidFill>
                  <a:schemeClr val="tx1">
                    <a:lumMod val="75000"/>
                    <a:lumOff val="25000"/>
                  </a:schemeClr>
                </a:solidFill>
              </a:defRPr>
            </a:lvl1pPr>
          </a:lstStyle>
          <a:p>
            <a:endParaRPr lang="en-US"/>
          </a:p>
        </p:txBody>
      </p:sp>
      <p:sp>
        <p:nvSpPr>
          <p:cNvPr id="7" name="Text Placeholder 5"/>
          <p:cNvSpPr>
            <a:spLocks noGrp="1"/>
          </p:cNvSpPr>
          <p:nvPr>
            <p:ph type="body" sz="quarter" idx="13" hasCustomPrompt="1"/>
          </p:nvPr>
        </p:nvSpPr>
        <p:spPr>
          <a:xfrm>
            <a:off x="537634" y="738554"/>
            <a:ext cx="7759700" cy="575100"/>
          </a:xfrm>
          <a:prstGeom prst="rect">
            <a:avLst/>
          </a:prstGeom>
        </p:spPr>
        <p:txBody>
          <a:bodyPr>
            <a:noAutofit/>
          </a:bodyPr>
          <a:lstStyle>
            <a:lvl1pPr marL="0" indent="0">
              <a:lnSpc>
                <a:spcPct val="100000"/>
              </a:lnSpc>
              <a:spcBef>
                <a:spcPts val="0"/>
              </a:spcBef>
              <a:buNone/>
              <a:defRPr>
                <a:solidFill>
                  <a:schemeClr val="tx1">
                    <a:lumMod val="75000"/>
                    <a:lumOff val="25000"/>
                  </a:schemeClr>
                </a:solidFill>
              </a:defRPr>
            </a:lvl1pPr>
          </a:lstStyle>
          <a:p>
            <a:r>
              <a:rPr lang="en-US" sz="2800" b="1">
                <a:latin typeface="Arial" charset="0"/>
                <a:ea typeface="Arial" charset="0"/>
                <a:cs typeface="Arial" charset="0"/>
              </a:rPr>
              <a:t>Title</a:t>
            </a:r>
          </a:p>
        </p:txBody>
      </p:sp>
    </p:spTree>
    <p:extLst>
      <p:ext uri="{BB962C8B-B14F-4D97-AF65-F5344CB8AC3E}">
        <p14:creationId xmlns:p14="http://schemas.microsoft.com/office/powerpoint/2010/main" val="19521517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lternate Content slide all image">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537634" y="1762125"/>
            <a:ext cx="8722113" cy="4719697"/>
          </a:xfrm>
          <a:prstGeom prst="rect">
            <a:avLst/>
          </a:prstGeom>
        </p:spPr>
        <p:txBody>
          <a:bodyPr/>
          <a:lstStyle>
            <a:lvl1pPr>
              <a:defRPr>
                <a:solidFill>
                  <a:schemeClr val="tx1">
                    <a:lumMod val="75000"/>
                    <a:lumOff val="25000"/>
                  </a:schemeClr>
                </a:solidFill>
              </a:defRPr>
            </a:lvl1pPr>
          </a:lstStyle>
          <a:p>
            <a:endParaRPr lang="en-US"/>
          </a:p>
        </p:txBody>
      </p:sp>
      <p:sp>
        <p:nvSpPr>
          <p:cNvPr id="4" name="Text Placeholder 5"/>
          <p:cNvSpPr>
            <a:spLocks noGrp="1"/>
          </p:cNvSpPr>
          <p:nvPr>
            <p:ph type="body" sz="quarter" idx="11" hasCustomPrompt="1"/>
          </p:nvPr>
        </p:nvSpPr>
        <p:spPr>
          <a:xfrm>
            <a:off x="537634" y="738554"/>
            <a:ext cx="7759700" cy="575100"/>
          </a:xfrm>
          <a:prstGeom prst="rect">
            <a:avLst/>
          </a:prstGeom>
        </p:spPr>
        <p:txBody>
          <a:bodyPr>
            <a:noAutofit/>
          </a:bodyPr>
          <a:lstStyle>
            <a:lvl1pPr marL="0" indent="0">
              <a:lnSpc>
                <a:spcPct val="100000"/>
              </a:lnSpc>
              <a:spcBef>
                <a:spcPts val="0"/>
              </a:spcBef>
              <a:buNone/>
              <a:defRPr>
                <a:solidFill>
                  <a:schemeClr val="tx1">
                    <a:lumMod val="75000"/>
                    <a:lumOff val="25000"/>
                  </a:schemeClr>
                </a:solidFill>
              </a:defRPr>
            </a:lvl1pPr>
          </a:lstStyle>
          <a:p>
            <a:r>
              <a:rPr lang="en-US" sz="2800" b="1">
                <a:latin typeface="Arial" charset="0"/>
                <a:ea typeface="Arial" charset="0"/>
                <a:cs typeface="Arial" charset="0"/>
              </a:rPr>
              <a:t>Title</a:t>
            </a:r>
          </a:p>
        </p:txBody>
      </p:sp>
    </p:spTree>
    <p:extLst>
      <p:ext uri="{BB962C8B-B14F-4D97-AF65-F5344CB8AC3E}">
        <p14:creationId xmlns:p14="http://schemas.microsoft.com/office/powerpoint/2010/main" val="2718922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Content slide all text">
    <p:spTree>
      <p:nvGrpSpPr>
        <p:cNvPr id="1" name=""/>
        <p:cNvGrpSpPr/>
        <p:nvPr/>
      </p:nvGrpSpPr>
      <p:grpSpPr>
        <a:xfrm>
          <a:off x="0" y="0"/>
          <a:ext cx="0" cy="0"/>
          <a:chOff x="0" y="0"/>
          <a:chExt cx="0" cy="0"/>
        </a:xfrm>
      </p:grpSpPr>
      <p:sp>
        <p:nvSpPr>
          <p:cNvPr id="7" name="Text Placeholder 6"/>
          <p:cNvSpPr>
            <a:spLocks noGrp="1"/>
          </p:cNvSpPr>
          <p:nvPr>
            <p:ph type="body" sz="quarter" idx="10" hasCustomPrompt="1"/>
          </p:nvPr>
        </p:nvSpPr>
        <p:spPr>
          <a:xfrm>
            <a:off x="452968" y="1762126"/>
            <a:ext cx="8837645" cy="4683125"/>
          </a:xfrm>
          <a:prstGeom prst="rect">
            <a:avLst/>
          </a:prstGeom>
        </p:spPr>
        <p:txBody>
          <a:bodyPr/>
          <a:lstStyle>
            <a:lvl1pPr marL="285750" indent="-285750">
              <a:buFont typeface="Arial" charset="0"/>
              <a:buChar char="•"/>
              <a:defRPr sz="2400" baseline="0">
                <a:solidFill>
                  <a:schemeClr val="tx1">
                    <a:lumMod val="75000"/>
                    <a:lumOff val="25000"/>
                  </a:schemeClr>
                </a:solidFill>
              </a:defRPr>
            </a:lvl1pPr>
            <a:lvl2pPr marL="0" indent="0">
              <a:buNone/>
              <a:defRPr sz="2400" baseline="0">
                <a:solidFill>
                  <a:schemeClr val="tx1">
                    <a:lumMod val="75000"/>
                    <a:lumOff val="25000"/>
                  </a:schemeClr>
                </a:solidFill>
              </a:defRPr>
            </a:lvl2pPr>
          </a:lstStyle>
          <a:p>
            <a:r>
              <a:rPr lang="en-US" sz="2400">
                <a:latin typeface="Arial" charset="0"/>
                <a:ea typeface="Arial" charset="0"/>
                <a:cs typeface="Arial" charset="0"/>
              </a:rPr>
              <a:t>PLEASE DO NOT CHANGE THE SIZE OF THIS TEXT BOX</a:t>
            </a:r>
          </a:p>
          <a:p>
            <a:r>
              <a:rPr lang="en-US" sz="2400">
                <a:latin typeface="Arial" charset="0"/>
                <a:ea typeface="Arial" charset="0"/>
                <a:cs typeface="Arial" charset="0"/>
              </a:rPr>
              <a:t>Text must be at least size 24 for accessibility purposes</a:t>
            </a:r>
            <a:endParaRPr lang="en-US" sz="1100" b="1">
              <a:latin typeface="Arial" charset="0"/>
              <a:ea typeface="Arial" charset="0"/>
              <a:cs typeface="Arial" charset="0"/>
            </a:endParaRPr>
          </a:p>
          <a:p>
            <a:pPr marL="285750" indent="-285750">
              <a:buFont typeface="Arial" charset="0"/>
              <a:buChar char="•"/>
            </a:pPr>
            <a:endParaRPr lang="en-US" sz="1600">
              <a:latin typeface="Arial" charset="0"/>
              <a:ea typeface="Arial" charset="0"/>
              <a:cs typeface="Arial" charset="0"/>
            </a:endParaRPr>
          </a:p>
          <a:p>
            <a:pPr marL="0" lvl="1"/>
            <a:r>
              <a:rPr lang="en-GB" altLang="en-US"/>
              <a:t>For maximum impact, avoid overcrowding slides - limit your points to a maximum of 6 per page</a:t>
            </a:r>
          </a:p>
          <a:p>
            <a:pPr lvl="0"/>
            <a:endParaRPr lang="en-US"/>
          </a:p>
        </p:txBody>
      </p:sp>
      <p:sp>
        <p:nvSpPr>
          <p:cNvPr id="9" name="Text Placeholder 5"/>
          <p:cNvSpPr>
            <a:spLocks noGrp="1"/>
          </p:cNvSpPr>
          <p:nvPr>
            <p:ph type="body" sz="quarter" idx="11" hasCustomPrompt="1"/>
          </p:nvPr>
        </p:nvSpPr>
        <p:spPr>
          <a:xfrm>
            <a:off x="537634" y="738554"/>
            <a:ext cx="7759700" cy="575100"/>
          </a:xfrm>
          <a:prstGeom prst="rect">
            <a:avLst/>
          </a:prstGeom>
        </p:spPr>
        <p:txBody>
          <a:bodyPr>
            <a:noAutofit/>
          </a:bodyPr>
          <a:lstStyle>
            <a:lvl1pPr marL="0" indent="0">
              <a:lnSpc>
                <a:spcPct val="100000"/>
              </a:lnSpc>
              <a:spcBef>
                <a:spcPts val="0"/>
              </a:spcBef>
              <a:buNone/>
              <a:defRPr>
                <a:solidFill>
                  <a:schemeClr val="tx1">
                    <a:lumMod val="75000"/>
                    <a:lumOff val="25000"/>
                  </a:schemeClr>
                </a:solidFill>
              </a:defRPr>
            </a:lvl1pPr>
          </a:lstStyle>
          <a:p>
            <a:r>
              <a:rPr lang="en-US" sz="2800" b="1">
                <a:latin typeface="Arial" charset="0"/>
                <a:ea typeface="Arial" charset="0"/>
                <a:cs typeface="Arial" charset="0"/>
              </a:rPr>
              <a:t>Student Careers</a:t>
            </a:r>
          </a:p>
        </p:txBody>
      </p:sp>
      <p:pic>
        <p:nvPicPr>
          <p:cNvPr id="5" name="Picture 4">
            <a:extLst>
              <a:ext uri="{FF2B5EF4-FFF2-40B4-BE49-F238E27FC236}">
                <a16:creationId xmlns:a16="http://schemas.microsoft.com/office/drawing/2014/main" id="{D2E32540-8940-2044-BED5-054D65D0BE79}"/>
              </a:ext>
            </a:extLst>
          </p:cNvPr>
          <p:cNvPicPr>
            <a:picLocks noChangeAspect="1"/>
          </p:cNvPicPr>
          <p:nvPr userDrawn="1"/>
        </p:nvPicPr>
        <p:blipFill rotWithShape="1">
          <a:blip r:embed="rId2"/>
          <a:srcRect l="-2201" t="149" r="558" b="661"/>
          <a:stretch/>
        </p:blipFill>
        <p:spPr>
          <a:xfrm>
            <a:off x="10244453" y="5068025"/>
            <a:ext cx="1774365" cy="1615049"/>
          </a:xfrm>
          <a:prstGeom prst="rect">
            <a:avLst/>
          </a:prstGeom>
        </p:spPr>
      </p:pic>
    </p:spTree>
    <p:extLst>
      <p:ext uri="{BB962C8B-B14F-4D97-AF65-F5344CB8AC3E}">
        <p14:creationId xmlns:p14="http://schemas.microsoft.com/office/powerpoint/2010/main" val="4784178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Organic Shapes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 Placeholder 3"/>
          <p:cNvSpPr>
            <a:spLocks noGrp="1"/>
          </p:cNvSpPr>
          <p:nvPr>
            <p:ph type="body" sz="quarter" idx="12"/>
          </p:nvPr>
        </p:nvSpPr>
        <p:spPr>
          <a:xfrm>
            <a:off x="1521068" y="2198076"/>
            <a:ext cx="9900139" cy="3226777"/>
          </a:xfrm>
          <a:prstGeom prst="rect">
            <a:avLst/>
          </a:prstGeom>
          <a:noFill/>
          <a:ln>
            <a:noFill/>
          </a:ln>
        </p:spPr>
        <p:txBody>
          <a:bodyPr/>
          <a:lstStyle>
            <a:lvl1pPr marL="0" indent="0">
              <a:buNone/>
              <a:defRPr sz="4000" b="1">
                <a:solidFill>
                  <a:schemeClr val="tx1"/>
                </a:solidFill>
                <a:latin typeface="Arial" panose="020B0604020202020204" pitchFamily="34" charset="0"/>
                <a:cs typeface="Arial" panose="020B0604020202020204" pitchFamily="34" charset="0"/>
              </a:defRPr>
            </a:lvl1pPr>
            <a:lvl2pPr marL="457200" indent="0">
              <a:buNone/>
              <a:defRPr sz="3600" b="1">
                <a:solidFill>
                  <a:schemeClr val="tx1"/>
                </a:solidFill>
                <a:latin typeface="Arial" panose="020B0604020202020204" pitchFamily="34" charset="0"/>
                <a:cs typeface="Arial" panose="020B0604020202020204" pitchFamily="34" charset="0"/>
              </a:defRPr>
            </a:lvl2pPr>
            <a:lvl3pPr marL="914400" indent="0">
              <a:buNone/>
              <a:defRPr sz="3200" b="1">
                <a:solidFill>
                  <a:schemeClr val="tx1"/>
                </a:solidFill>
                <a:latin typeface="Arial" panose="020B0604020202020204" pitchFamily="34" charset="0"/>
                <a:cs typeface="Arial" panose="020B0604020202020204" pitchFamily="34" charset="0"/>
              </a:defRPr>
            </a:lvl3pPr>
            <a:lvl4pPr marL="1371600" indent="0">
              <a:buNone/>
              <a:defRPr sz="2800" b="1">
                <a:solidFill>
                  <a:schemeClr val="tx1"/>
                </a:solidFill>
                <a:latin typeface="Arial" panose="020B0604020202020204" pitchFamily="34" charset="0"/>
                <a:cs typeface="Arial" panose="020B0604020202020204" pitchFamily="34" charset="0"/>
              </a:defRPr>
            </a:lvl4pPr>
            <a:lvl5pPr marL="1828800" indent="0">
              <a:buNone/>
              <a:defRPr sz="2800" b="1">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7399408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C5A7B040-9974-4BFC-8DCD-C9F2D038B466}" type="datetimeFigureOut">
              <a:rPr lang="en-GB" smtClean="0"/>
              <a:t>12/10/2026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A34E2F5C-3E98-4E47-98D3-E23C801C3C74}" type="slidenum">
              <a:rPr lang="en-GB" smtClean="0"/>
              <a:t>‹#›</a:t>
            </a:fld>
            <a:endParaRPr lang="en-GB"/>
          </a:p>
        </p:txBody>
      </p:sp>
    </p:spTree>
    <p:extLst>
      <p:ext uri="{BB962C8B-B14F-4D97-AF65-F5344CB8AC3E}">
        <p14:creationId xmlns:p14="http://schemas.microsoft.com/office/powerpoint/2010/main" val="16444965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lternate Content slide all text">
    <p:spTree>
      <p:nvGrpSpPr>
        <p:cNvPr id="1" name=""/>
        <p:cNvGrpSpPr/>
        <p:nvPr/>
      </p:nvGrpSpPr>
      <p:grpSpPr>
        <a:xfrm>
          <a:off x="0" y="0"/>
          <a:ext cx="0" cy="0"/>
          <a:chOff x="0" y="0"/>
          <a:chExt cx="0" cy="0"/>
        </a:xfrm>
      </p:grpSpPr>
      <p:sp>
        <p:nvSpPr>
          <p:cNvPr id="7" name="Text Placeholder 6"/>
          <p:cNvSpPr>
            <a:spLocks noGrp="1"/>
          </p:cNvSpPr>
          <p:nvPr>
            <p:ph type="body" sz="quarter" idx="10" hasCustomPrompt="1"/>
          </p:nvPr>
        </p:nvSpPr>
        <p:spPr>
          <a:xfrm>
            <a:off x="452968" y="1762126"/>
            <a:ext cx="8837645" cy="4683125"/>
          </a:xfrm>
          <a:prstGeom prst="rect">
            <a:avLst/>
          </a:prstGeom>
        </p:spPr>
        <p:txBody>
          <a:bodyPr/>
          <a:lstStyle>
            <a:lvl1pPr marL="285750" indent="-285750">
              <a:buFont typeface="Arial" charset="0"/>
              <a:buChar char="•"/>
              <a:defRPr sz="2400" baseline="0">
                <a:solidFill>
                  <a:schemeClr val="tx1">
                    <a:lumMod val="75000"/>
                    <a:lumOff val="25000"/>
                  </a:schemeClr>
                </a:solidFill>
              </a:defRPr>
            </a:lvl1pPr>
            <a:lvl2pPr marL="0" indent="0">
              <a:buNone/>
              <a:defRPr sz="2400" baseline="0">
                <a:solidFill>
                  <a:schemeClr val="tx1">
                    <a:lumMod val="75000"/>
                    <a:lumOff val="25000"/>
                  </a:schemeClr>
                </a:solidFill>
              </a:defRPr>
            </a:lvl2pPr>
          </a:lstStyle>
          <a:p>
            <a:r>
              <a:rPr lang="en-US" sz="2400">
                <a:latin typeface="Arial" charset="0"/>
                <a:ea typeface="Arial" charset="0"/>
                <a:cs typeface="Arial" charset="0"/>
              </a:rPr>
              <a:t>PLEASE DO NOT CHANGE THE SIZE OF THIS TEXT BOX</a:t>
            </a:r>
          </a:p>
          <a:p>
            <a:r>
              <a:rPr lang="en-US" sz="2400">
                <a:latin typeface="Arial" charset="0"/>
                <a:ea typeface="Arial" charset="0"/>
                <a:cs typeface="Arial" charset="0"/>
              </a:rPr>
              <a:t>Text must be at least size 24 for accessibility purposes</a:t>
            </a:r>
            <a:endParaRPr lang="en-US" sz="1100" b="1">
              <a:latin typeface="Arial" charset="0"/>
              <a:ea typeface="Arial" charset="0"/>
              <a:cs typeface="Arial" charset="0"/>
            </a:endParaRPr>
          </a:p>
          <a:p>
            <a:pPr marL="285750" indent="-285750">
              <a:buFont typeface="Arial" charset="0"/>
              <a:buChar char="•"/>
            </a:pPr>
            <a:endParaRPr lang="en-US" sz="1600">
              <a:latin typeface="Arial" charset="0"/>
              <a:ea typeface="Arial" charset="0"/>
              <a:cs typeface="Arial" charset="0"/>
            </a:endParaRPr>
          </a:p>
          <a:p>
            <a:pPr marL="0" lvl="1"/>
            <a:r>
              <a:rPr lang="en-GB" altLang="en-US"/>
              <a:t>For maximum impact, avoid overcrowding slides - limit your points to a maximum of 6 per page</a:t>
            </a:r>
          </a:p>
          <a:p>
            <a:pPr lvl="0"/>
            <a:endParaRPr lang="en-US"/>
          </a:p>
        </p:txBody>
      </p:sp>
      <p:sp>
        <p:nvSpPr>
          <p:cNvPr id="9" name="Text Placeholder 5"/>
          <p:cNvSpPr>
            <a:spLocks noGrp="1"/>
          </p:cNvSpPr>
          <p:nvPr>
            <p:ph type="body" sz="quarter" idx="11" hasCustomPrompt="1"/>
          </p:nvPr>
        </p:nvSpPr>
        <p:spPr>
          <a:xfrm>
            <a:off x="537634" y="738554"/>
            <a:ext cx="7759700" cy="575100"/>
          </a:xfrm>
          <a:prstGeom prst="rect">
            <a:avLst/>
          </a:prstGeom>
        </p:spPr>
        <p:txBody>
          <a:bodyPr>
            <a:noAutofit/>
          </a:bodyPr>
          <a:lstStyle>
            <a:lvl1pPr marL="0" indent="0">
              <a:lnSpc>
                <a:spcPct val="100000"/>
              </a:lnSpc>
              <a:spcBef>
                <a:spcPts val="0"/>
              </a:spcBef>
              <a:buNone/>
              <a:defRPr>
                <a:solidFill>
                  <a:schemeClr val="tx1">
                    <a:lumMod val="75000"/>
                    <a:lumOff val="25000"/>
                  </a:schemeClr>
                </a:solidFill>
              </a:defRPr>
            </a:lvl1pPr>
          </a:lstStyle>
          <a:p>
            <a:r>
              <a:rPr lang="en-US" sz="2800" b="1">
                <a:latin typeface="Arial" charset="0"/>
                <a:ea typeface="Arial" charset="0"/>
                <a:cs typeface="Arial" charset="0"/>
              </a:rPr>
              <a:t>Title</a:t>
            </a:r>
          </a:p>
        </p:txBody>
      </p:sp>
    </p:spTree>
    <p:extLst>
      <p:ext uri="{BB962C8B-B14F-4D97-AF65-F5344CB8AC3E}">
        <p14:creationId xmlns:p14="http://schemas.microsoft.com/office/powerpoint/2010/main" val="21348285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lternate Content Slide text and image">
    <p:spTree>
      <p:nvGrpSpPr>
        <p:cNvPr id="1" name=""/>
        <p:cNvGrpSpPr/>
        <p:nvPr/>
      </p:nvGrpSpPr>
      <p:grpSpPr>
        <a:xfrm>
          <a:off x="0" y="0"/>
          <a:ext cx="0" cy="0"/>
          <a:chOff x="0" y="0"/>
          <a:chExt cx="0" cy="0"/>
        </a:xfrm>
      </p:grpSpPr>
      <p:sp>
        <p:nvSpPr>
          <p:cNvPr id="11" name="Text Placeholder 10"/>
          <p:cNvSpPr>
            <a:spLocks noGrp="1"/>
          </p:cNvSpPr>
          <p:nvPr>
            <p:ph type="body" sz="quarter" idx="11" hasCustomPrompt="1"/>
          </p:nvPr>
        </p:nvSpPr>
        <p:spPr>
          <a:xfrm>
            <a:off x="452967" y="1762126"/>
            <a:ext cx="5295900" cy="4683125"/>
          </a:xfrm>
          <a:prstGeom prst="rect">
            <a:avLst/>
          </a:prstGeom>
        </p:spPr>
        <p:txBody>
          <a:bodyPr/>
          <a:lstStyle>
            <a:lvl1pPr marL="285750" indent="-285750">
              <a:buFont typeface="Arial" charset="0"/>
              <a:buChar char="•"/>
              <a:defRPr sz="2400" b="0" i="0" baseline="0">
                <a:solidFill>
                  <a:schemeClr val="tx1">
                    <a:lumMod val="75000"/>
                    <a:lumOff val="25000"/>
                  </a:schemeClr>
                </a:solidFill>
                <a:latin typeface="+mn-lt"/>
              </a:defRPr>
            </a:lvl1pPr>
          </a:lstStyle>
          <a:p>
            <a:r>
              <a:rPr lang="en-US" sz="2400">
                <a:latin typeface="Arial" charset="0"/>
                <a:ea typeface="Arial" charset="0"/>
                <a:cs typeface="Arial" charset="0"/>
              </a:rPr>
              <a:t>PLEASE DO NOT CHANGE THE SIZE OF THIS TEXT BOX</a:t>
            </a:r>
          </a:p>
          <a:p>
            <a:r>
              <a:rPr lang="en-US" sz="2400">
                <a:latin typeface="Arial" charset="0"/>
                <a:ea typeface="Arial" charset="0"/>
                <a:cs typeface="Arial" charset="0"/>
              </a:rPr>
              <a:t>Headings should be in Arial, size 24</a:t>
            </a:r>
            <a:endParaRPr lang="en-US" sz="1100" b="1">
              <a:latin typeface="Arial" charset="0"/>
              <a:ea typeface="Arial" charset="0"/>
              <a:cs typeface="Arial" charset="0"/>
            </a:endParaRPr>
          </a:p>
          <a:p>
            <a:r>
              <a:rPr lang="en-US" sz="1600">
                <a:latin typeface="Arial" charset="0"/>
                <a:ea typeface="Arial" charset="0"/>
                <a:cs typeface="Arial" charset="0"/>
              </a:rPr>
              <a:t>The rest of your text should be Ariel, size 16</a:t>
            </a:r>
          </a:p>
          <a:p>
            <a:endParaRPr lang="en-US" sz="1600">
              <a:latin typeface="Arial" charset="0"/>
              <a:ea typeface="Arial" charset="0"/>
              <a:cs typeface="Arial" charset="0"/>
            </a:endParaRPr>
          </a:p>
          <a:p>
            <a:r>
              <a:rPr lang="en-US" sz="1600">
                <a:latin typeface="Arial" charset="0"/>
                <a:ea typeface="Arial" charset="0"/>
                <a:cs typeface="Arial" charset="0"/>
              </a:rPr>
              <a:t>Bullet points should be used as below</a:t>
            </a:r>
          </a:p>
          <a:p>
            <a:pPr marL="285750" indent="-285750">
              <a:buFont typeface="Arial" charset="0"/>
              <a:buChar char="•"/>
            </a:pPr>
            <a:r>
              <a:rPr lang="en-US" sz="1600">
                <a:latin typeface="Arial" charset="0"/>
                <a:ea typeface="Arial" charset="0"/>
                <a:cs typeface="Arial" charset="0"/>
              </a:rPr>
              <a:t>Bullet </a:t>
            </a:r>
          </a:p>
          <a:p>
            <a:pPr marL="285750" indent="-285750">
              <a:buFont typeface="Arial" charset="0"/>
              <a:buChar char="•"/>
            </a:pPr>
            <a:r>
              <a:rPr lang="en-US" sz="1600">
                <a:latin typeface="Arial" charset="0"/>
                <a:ea typeface="Arial" charset="0"/>
                <a:cs typeface="Arial" charset="0"/>
              </a:rPr>
              <a:t>Bullet</a:t>
            </a:r>
          </a:p>
          <a:p>
            <a:pPr marL="285750" indent="-285750">
              <a:buFont typeface="Arial" charset="0"/>
              <a:buChar char="•"/>
            </a:pPr>
            <a:r>
              <a:rPr lang="en-US" sz="1600">
                <a:latin typeface="Arial" charset="0"/>
                <a:ea typeface="Arial" charset="0"/>
                <a:cs typeface="Arial" charset="0"/>
              </a:rPr>
              <a:t>Bullet</a:t>
            </a:r>
          </a:p>
        </p:txBody>
      </p:sp>
      <p:sp>
        <p:nvSpPr>
          <p:cNvPr id="5" name="Picture Placeholder 4"/>
          <p:cNvSpPr>
            <a:spLocks noGrp="1"/>
          </p:cNvSpPr>
          <p:nvPr>
            <p:ph type="pic" sz="quarter" idx="10"/>
          </p:nvPr>
        </p:nvSpPr>
        <p:spPr>
          <a:xfrm>
            <a:off x="6134101" y="1762126"/>
            <a:ext cx="5509684" cy="3238138"/>
          </a:xfrm>
          <a:prstGeom prst="rect">
            <a:avLst/>
          </a:prstGeom>
        </p:spPr>
        <p:txBody>
          <a:bodyPr/>
          <a:lstStyle>
            <a:lvl1pPr>
              <a:defRPr>
                <a:solidFill>
                  <a:schemeClr val="tx1">
                    <a:lumMod val="75000"/>
                    <a:lumOff val="25000"/>
                  </a:schemeClr>
                </a:solidFill>
              </a:defRPr>
            </a:lvl1pPr>
          </a:lstStyle>
          <a:p>
            <a:endParaRPr lang="en-US"/>
          </a:p>
        </p:txBody>
      </p:sp>
      <p:sp>
        <p:nvSpPr>
          <p:cNvPr id="7" name="Text Placeholder 5"/>
          <p:cNvSpPr>
            <a:spLocks noGrp="1"/>
          </p:cNvSpPr>
          <p:nvPr>
            <p:ph type="body" sz="quarter" idx="13" hasCustomPrompt="1"/>
          </p:nvPr>
        </p:nvSpPr>
        <p:spPr>
          <a:xfrm>
            <a:off x="537634" y="738554"/>
            <a:ext cx="7759700" cy="575100"/>
          </a:xfrm>
          <a:prstGeom prst="rect">
            <a:avLst/>
          </a:prstGeom>
        </p:spPr>
        <p:txBody>
          <a:bodyPr>
            <a:noAutofit/>
          </a:bodyPr>
          <a:lstStyle>
            <a:lvl1pPr marL="0" indent="0">
              <a:lnSpc>
                <a:spcPct val="100000"/>
              </a:lnSpc>
              <a:spcBef>
                <a:spcPts val="0"/>
              </a:spcBef>
              <a:buNone/>
              <a:defRPr>
                <a:solidFill>
                  <a:schemeClr val="tx1">
                    <a:lumMod val="75000"/>
                    <a:lumOff val="25000"/>
                  </a:schemeClr>
                </a:solidFill>
              </a:defRPr>
            </a:lvl1pPr>
          </a:lstStyle>
          <a:p>
            <a:r>
              <a:rPr lang="en-US" sz="2800" b="1">
                <a:latin typeface="Arial" charset="0"/>
                <a:ea typeface="Arial" charset="0"/>
                <a:cs typeface="Arial" charset="0"/>
              </a:rPr>
              <a:t>Title</a:t>
            </a:r>
          </a:p>
        </p:txBody>
      </p:sp>
    </p:spTree>
    <p:extLst>
      <p:ext uri="{BB962C8B-B14F-4D97-AF65-F5344CB8AC3E}">
        <p14:creationId xmlns:p14="http://schemas.microsoft.com/office/powerpoint/2010/main" val="31285225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lternate Content slide all image">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537634" y="1762125"/>
            <a:ext cx="8722113" cy="4719697"/>
          </a:xfrm>
          <a:prstGeom prst="rect">
            <a:avLst/>
          </a:prstGeom>
        </p:spPr>
        <p:txBody>
          <a:bodyPr/>
          <a:lstStyle>
            <a:lvl1pPr>
              <a:defRPr>
                <a:solidFill>
                  <a:schemeClr val="tx1">
                    <a:lumMod val="75000"/>
                    <a:lumOff val="25000"/>
                  </a:schemeClr>
                </a:solidFill>
              </a:defRPr>
            </a:lvl1pPr>
          </a:lstStyle>
          <a:p>
            <a:endParaRPr lang="en-US"/>
          </a:p>
        </p:txBody>
      </p:sp>
      <p:sp>
        <p:nvSpPr>
          <p:cNvPr id="4" name="Text Placeholder 5"/>
          <p:cNvSpPr>
            <a:spLocks noGrp="1"/>
          </p:cNvSpPr>
          <p:nvPr>
            <p:ph type="body" sz="quarter" idx="11" hasCustomPrompt="1"/>
          </p:nvPr>
        </p:nvSpPr>
        <p:spPr>
          <a:xfrm>
            <a:off x="537634" y="738554"/>
            <a:ext cx="7759700" cy="575100"/>
          </a:xfrm>
          <a:prstGeom prst="rect">
            <a:avLst/>
          </a:prstGeom>
        </p:spPr>
        <p:txBody>
          <a:bodyPr>
            <a:noAutofit/>
          </a:bodyPr>
          <a:lstStyle>
            <a:lvl1pPr marL="0" indent="0">
              <a:lnSpc>
                <a:spcPct val="100000"/>
              </a:lnSpc>
              <a:spcBef>
                <a:spcPts val="0"/>
              </a:spcBef>
              <a:buNone/>
              <a:defRPr>
                <a:solidFill>
                  <a:schemeClr val="tx1">
                    <a:lumMod val="75000"/>
                    <a:lumOff val="25000"/>
                  </a:schemeClr>
                </a:solidFill>
              </a:defRPr>
            </a:lvl1pPr>
          </a:lstStyle>
          <a:p>
            <a:r>
              <a:rPr lang="en-US" sz="2800" b="1">
                <a:latin typeface="Arial" charset="0"/>
                <a:ea typeface="Arial" charset="0"/>
                <a:cs typeface="Arial" charset="0"/>
              </a:rPr>
              <a:t>Title</a:t>
            </a:r>
          </a:p>
        </p:txBody>
      </p:sp>
    </p:spTree>
    <p:extLst>
      <p:ext uri="{BB962C8B-B14F-4D97-AF65-F5344CB8AC3E}">
        <p14:creationId xmlns:p14="http://schemas.microsoft.com/office/powerpoint/2010/main" val="14823919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10/12/26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0100762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Organic Shapes Title slide">
    <p:spTree>
      <p:nvGrpSpPr>
        <p:cNvPr id="1" name=""/>
        <p:cNvGrpSpPr/>
        <p:nvPr/>
      </p:nvGrpSpPr>
      <p:grpSpPr>
        <a:xfrm>
          <a:off x="0" y="0"/>
          <a:ext cx="0" cy="0"/>
          <a:chOff x="0" y="0"/>
          <a:chExt cx="0" cy="0"/>
        </a:xfrm>
      </p:grpSpPr>
      <p:pic>
        <p:nvPicPr>
          <p:cNvPr id="5" name="Picture 4" descr="Background pattern&#10;&#10;Description automatically generated">
            <a:extLst>
              <a:ext uri="{FF2B5EF4-FFF2-40B4-BE49-F238E27FC236}">
                <a16:creationId xmlns:a16="http://schemas.microsoft.com/office/drawing/2014/main" id="{46C47E50-310C-D19D-6386-181CE0192D86}"/>
              </a:ext>
            </a:extLst>
          </p:cNvPr>
          <p:cNvPicPr>
            <a:picLocks noChangeAspect="1"/>
          </p:cNvPicPr>
          <p:nvPr userDrawn="1"/>
        </p:nvPicPr>
        <p:blipFill>
          <a:blip r:embed="rId2"/>
          <a:stretch>
            <a:fillRect/>
          </a:stretch>
        </p:blipFill>
        <p:spPr>
          <a:xfrm>
            <a:off x="7620" y="0"/>
            <a:ext cx="12176760" cy="6858000"/>
          </a:xfrm>
          <a:prstGeom prst="rect">
            <a:avLst/>
          </a:prstGeom>
        </p:spPr>
      </p:pic>
      <p:sp>
        <p:nvSpPr>
          <p:cNvPr id="6" name="Text Placeholder 3"/>
          <p:cNvSpPr>
            <a:spLocks noGrp="1"/>
          </p:cNvSpPr>
          <p:nvPr>
            <p:ph type="body" sz="quarter" idx="12"/>
          </p:nvPr>
        </p:nvSpPr>
        <p:spPr>
          <a:xfrm>
            <a:off x="1230923" y="2101369"/>
            <a:ext cx="10410092" cy="2453053"/>
          </a:xfrm>
          <a:prstGeom prst="rect">
            <a:avLst/>
          </a:prstGeom>
          <a:noFill/>
          <a:ln>
            <a:noFill/>
          </a:ln>
        </p:spPr>
        <p:txBody>
          <a:bodyPr/>
          <a:lstStyle>
            <a:lvl1pPr marL="0" indent="0">
              <a:buNone/>
              <a:defRPr sz="2250" b="1">
                <a:solidFill>
                  <a:sysClr val="windowText" lastClr="000000"/>
                </a:solidFill>
                <a:latin typeface="Arial" panose="020B0604020202020204" pitchFamily="34" charset="0"/>
                <a:cs typeface="Arial" panose="020B0604020202020204" pitchFamily="34" charset="0"/>
              </a:defRPr>
            </a:lvl1pPr>
            <a:lvl2pPr marL="257175" indent="0">
              <a:buNone/>
              <a:defRPr sz="2025" b="1">
                <a:solidFill>
                  <a:sysClr val="windowText" lastClr="000000"/>
                </a:solidFill>
                <a:latin typeface="Arial" panose="020B0604020202020204" pitchFamily="34" charset="0"/>
                <a:cs typeface="Arial" panose="020B0604020202020204" pitchFamily="34" charset="0"/>
              </a:defRPr>
            </a:lvl2pPr>
            <a:lvl3pPr marL="514350" indent="0">
              <a:buNone/>
              <a:defRPr sz="1800" b="1">
                <a:solidFill>
                  <a:sysClr val="windowText" lastClr="000000"/>
                </a:solidFill>
                <a:latin typeface="Arial" panose="020B0604020202020204" pitchFamily="34" charset="0"/>
                <a:cs typeface="Arial" panose="020B0604020202020204" pitchFamily="34" charset="0"/>
              </a:defRPr>
            </a:lvl3pPr>
            <a:lvl4pPr marL="771525" indent="0">
              <a:buNone/>
              <a:defRPr sz="1575" b="1">
                <a:solidFill>
                  <a:sysClr val="windowText" lastClr="000000"/>
                </a:solidFill>
                <a:latin typeface="Arial" panose="020B0604020202020204" pitchFamily="34" charset="0"/>
                <a:cs typeface="Arial" panose="020B0604020202020204" pitchFamily="34" charset="0"/>
              </a:defRPr>
            </a:lvl4pPr>
            <a:lvl5pPr marL="1028700" indent="0">
              <a:buNone/>
              <a:defRPr sz="1575" b="1">
                <a:solidFill>
                  <a:sysClr val="windowText" lastClr="000000"/>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4021973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Content slide all text">
    <p:spTree>
      <p:nvGrpSpPr>
        <p:cNvPr id="1" name=""/>
        <p:cNvGrpSpPr/>
        <p:nvPr/>
      </p:nvGrpSpPr>
      <p:grpSpPr>
        <a:xfrm>
          <a:off x="0" y="0"/>
          <a:ext cx="0" cy="0"/>
          <a:chOff x="0" y="0"/>
          <a:chExt cx="0" cy="0"/>
        </a:xfrm>
      </p:grpSpPr>
      <p:sp>
        <p:nvSpPr>
          <p:cNvPr id="7" name="Text Placeholder 6"/>
          <p:cNvSpPr>
            <a:spLocks noGrp="1"/>
          </p:cNvSpPr>
          <p:nvPr>
            <p:ph type="body" sz="quarter" idx="10" hasCustomPrompt="1"/>
          </p:nvPr>
        </p:nvSpPr>
        <p:spPr>
          <a:xfrm>
            <a:off x="452968" y="1762126"/>
            <a:ext cx="8837645" cy="4683125"/>
          </a:xfrm>
          <a:prstGeom prst="rect">
            <a:avLst/>
          </a:prstGeom>
        </p:spPr>
        <p:txBody>
          <a:bodyPr/>
          <a:lstStyle>
            <a:lvl1pPr marL="285750" indent="-285750">
              <a:buFont typeface="Arial" charset="0"/>
              <a:buChar char="•"/>
              <a:defRPr sz="2400" baseline="0">
                <a:solidFill>
                  <a:schemeClr val="tx1">
                    <a:lumMod val="75000"/>
                    <a:lumOff val="25000"/>
                  </a:schemeClr>
                </a:solidFill>
              </a:defRPr>
            </a:lvl1pPr>
            <a:lvl2pPr marL="0" indent="0">
              <a:buNone/>
              <a:defRPr sz="2400" baseline="0">
                <a:solidFill>
                  <a:schemeClr val="tx1">
                    <a:lumMod val="75000"/>
                    <a:lumOff val="25000"/>
                  </a:schemeClr>
                </a:solidFill>
              </a:defRPr>
            </a:lvl2pPr>
          </a:lstStyle>
          <a:p>
            <a:r>
              <a:rPr lang="en-US" sz="2400">
                <a:latin typeface="Arial" charset="0"/>
                <a:ea typeface="Arial" charset="0"/>
                <a:cs typeface="Arial" charset="0"/>
              </a:rPr>
              <a:t>PLEASE DO NOT CHANGE THE SIZE OF THIS TEXT BOX</a:t>
            </a:r>
          </a:p>
          <a:p>
            <a:r>
              <a:rPr lang="en-US" sz="2400">
                <a:latin typeface="Arial" charset="0"/>
                <a:ea typeface="Arial" charset="0"/>
                <a:cs typeface="Arial" charset="0"/>
              </a:rPr>
              <a:t>Text must be at least size 24 for accessibility purposes</a:t>
            </a:r>
            <a:endParaRPr lang="en-US" sz="1100" b="1">
              <a:latin typeface="Arial" charset="0"/>
              <a:ea typeface="Arial" charset="0"/>
              <a:cs typeface="Arial" charset="0"/>
            </a:endParaRPr>
          </a:p>
          <a:p>
            <a:pPr marL="285750" indent="-285750">
              <a:buFont typeface="Arial" charset="0"/>
              <a:buChar char="•"/>
            </a:pPr>
            <a:endParaRPr lang="en-US" sz="1600">
              <a:latin typeface="Arial" charset="0"/>
              <a:ea typeface="Arial" charset="0"/>
              <a:cs typeface="Arial" charset="0"/>
            </a:endParaRPr>
          </a:p>
          <a:p>
            <a:pPr marL="0" lvl="1"/>
            <a:r>
              <a:rPr lang="en-GB" altLang="en-US"/>
              <a:t>For maximum impact, avoid overcrowding slides - limit your points to a maximum of 6 per page</a:t>
            </a:r>
          </a:p>
          <a:p>
            <a:pPr lvl="0"/>
            <a:endParaRPr lang="en-US"/>
          </a:p>
        </p:txBody>
      </p:sp>
      <p:sp>
        <p:nvSpPr>
          <p:cNvPr id="9" name="Text Placeholder 5"/>
          <p:cNvSpPr>
            <a:spLocks noGrp="1"/>
          </p:cNvSpPr>
          <p:nvPr>
            <p:ph type="body" sz="quarter" idx="11" hasCustomPrompt="1"/>
          </p:nvPr>
        </p:nvSpPr>
        <p:spPr>
          <a:xfrm>
            <a:off x="537634" y="738554"/>
            <a:ext cx="7759700" cy="575100"/>
          </a:xfrm>
          <a:prstGeom prst="rect">
            <a:avLst/>
          </a:prstGeom>
        </p:spPr>
        <p:txBody>
          <a:bodyPr>
            <a:noAutofit/>
          </a:bodyPr>
          <a:lstStyle>
            <a:lvl1pPr marL="0" indent="0">
              <a:lnSpc>
                <a:spcPct val="100000"/>
              </a:lnSpc>
              <a:spcBef>
                <a:spcPts val="0"/>
              </a:spcBef>
              <a:buNone/>
              <a:defRPr>
                <a:solidFill>
                  <a:schemeClr val="tx1">
                    <a:lumMod val="75000"/>
                    <a:lumOff val="25000"/>
                  </a:schemeClr>
                </a:solidFill>
              </a:defRPr>
            </a:lvl1pPr>
          </a:lstStyle>
          <a:p>
            <a:r>
              <a:rPr lang="en-US" sz="2800" b="1">
                <a:latin typeface="Arial" charset="0"/>
                <a:ea typeface="Arial" charset="0"/>
                <a:cs typeface="Arial" charset="0"/>
              </a:rPr>
              <a:t>Student Careers</a:t>
            </a:r>
          </a:p>
        </p:txBody>
      </p:sp>
      <p:pic>
        <p:nvPicPr>
          <p:cNvPr id="5" name="Picture 4">
            <a:extLst>
              <a:ext uri="{FF2B5EF4-FFF2-40B4-BE49-F238E27FC236}">
                <a16:creationId xmlns:a16="http://schemas.microsoft.com/office/drawing/2014/main" id="{D2E32540-8940-2044-BED5-054D65D0BE79}"/>
              </a:ext>
            </a:extLst>
          </p:cNvPr>
          <p:cNvPicPr>
            <a:picLocks noChangeAspect="1"/>
          </p:cNvPicPr>
          <p:nvPr userDrawn="1"/>
        </p:nvPicPr>
        <p:blipFill rotWithShape="1">
          <a:blip r:embed="rId2"/>
          <a:srcRect l="-2201" t="149" r="558" b="661"/>
          <a:stretch/>
        </p:blipFill>
        <p:spPr>
          <a:xfrm>
            <a:off x="10244453" y="5068025"/>
            <a:ext cx="1774365" cy="1615049"/>
          </a:xfrm>
          <a:prstGeom prst="rect">
            <a:avLst/>
          </a:prstGeom>
        </p:spPr>
      </p:pic>
    </p:spTree>
    <p:extLst>
      <p:ext uri="{BB962C8B-B14F-4D97-AF65-F5344CB8AC3E}">
        <p14:creationId xmlns:p14="http://schemas.microsoft.com/office/powerpoint/2010/main" val="24678845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Content Slide text and image">
    <p:spTree>
      <p:nvGrpSpPr>
        <p:cNvPr id="1" name=""/>
        <p:cNvGrpSpPr/>
        <p:nvPr/>
      </p:nvGrpSpPr>
      <p:grpSpPr>
        <a:xfrm>
          <a:off x="0" y="0"/>
          <a:ext cx="0" cy="0"/>
          <a:chOff x="0" y="0"/>
          <a:chExt cx="0" cy="0"/>
        </a:xfrm>
      </p:grpSpPr>
      <p:sp>
        <p:nvSpPr>
          <p:cNvPr id="11" name="Text Placeholder 10"/>
          <p:cNvSpPr>
            <a:spLocks noGrp="1"/>
          </p:cNvSpPr>
          <p:nvPr>
            <p:ph type="body" sz="quarter" idx="11" hasCustomPrompt="1"/>
          </p:nvPr>
        </p:nvSpPr>
        <p:spPr>
          <a:xfrm>
            <a:off x="452967" y="1762126"/>
            <a:ext cx="5295900" cy="4683125"/>
          </a:xfrm>
          <a:prstGeom prst="rect">
            <a:avLst/>
          </a:prstGeom>
        </p:spPr>
        <p:txBody>
          <a:bodyPr/>
          <a:lstStyle>
            <a:lvl1pPr marL="285750" indent="-285750">
              <a:buFont typeface="Arial" charset="0"/>
              <a:buChar char="•"/>
              <a:defRPr sz="2400" b="0" i="0" baseline="0">
                <a:solidFill>
                  <a:schemeClr val="tx1">
                    <a:lumMod val="75000"/>
                    <a:lumOff val="25000"/>
                  </a:schemeClr>
                </a:solidFill>
                <a:latin typeface="+mn-lt"/>
              </a:defRPr>
            </a:lvl1pPr>
          </a:lstStyle>
          <a:p>
            <a:r>
              <a:rPr lang="en-US" sz="2400">
                <a:latin typeface="Arial" charset="0"/>
                <a:ea typeface="Arial" charset="0"/>
                <a:cs typeface="Arial" charset="0"/>
              </a:rPr>
              <a:t>PLEASE DO NOT CHANGE THE SIZE OF THIS TEXT BOX</a:t>
            </a:r>
          </a:p>
          <a:p>
            <a:r>
              <a:rPr lang="en-US" sz="2400">
                <a:latin typeface="Arial" charset="0"/>
                <a:ea typeface="Arial" charset="0"/>
                <a:cs typeface="Arial" charset="0"/>
              </a:rPr>
              <a:t>Headings should be in Arial, size 24</a:t>
            </a:r>
            <a:endParaRPr lang="en-US" sz="1100" b="1">
              <a:latin typeface="Arial" charset="0"/>
              <a:ea typeface="Arial" charset="0"/>
              <a:cs typeface="Arial" charset="0"/>
            </a:endParaRPr>
          </a:p>
          <a:p>
            <a:r>
              <a:rPr lang="en-US" sz="1600">
                <a:latin typeface="Arial" charset="0"/>
                <a:ea typeface="Arial" charset="0"/>
                <a:cs typeface="Arial" charset="0"/>
              </a:rPr>
              <a:t>The rest of your text should be Ariel, size 16</a:t>
            </a:r>
          </a:p>
          <a:p>
            <a:endParaRPr lang="en-US" sz="1600">
              <a:latin typeface="Arial" charset="0"/>
              <a:ea typeface="Arial" charset="0"/>
              <a:cs typeface="Arial" charset="0"/>
            </a:endParaRPr>
          </a:p>
          <a:p>
            <a:r>
              <a:rPr lang="en-US" sz="1600">
                <a:latin typeface="Arial" charset="0"/>
                <a:ea typeface="Arial" charset="0"/>
                <a:cs typeface="Arial" charset="0"/>
              </a:rPr>
              <a:t>Bullet points should be used as below</a:t>
            </a:r>
          </a:p>
          <a:p>
            <a:pPr marL="285750" indent="-285750">
              <a:buFont typeface="Arial" charset="0"/>
              <a:buChar char="•"/>
            </a:pPr>
            <a:r>
              <a:rPr lang="en-US" sz="1600">
                <a:latin typeface="Arial" charset="0"/>
                <a:ea typeface="Arial" charset="0"/>
                <a:cs typeface="Arial" charset="0"/>
              </a:rPr>
              <a:t>Bullet </a:t>
            </a:r>
          </a:p>
          <a:p>
            <a:pPr marL="285750" indent="-285750">
              <a:buFont typeface="Arial" charset="0"/>
              <a:buChar char="•"/>
            </a:pPr>
            <a:r>
              <a:rPr lang="en-US" sz="1600">
                <a:latin typeface="Arial" charset="0"/>
                <a:ea typeface="Arial" charset="0"/>
                <a:cs typeface="Arial" charset="0"/>
              </a:rPr>
              <a:t>Bullet</a:t>
            </a:r>
          </a:p>
          <a:p>
            <a:pPr marL="285750" indent="-285750">
              <a:buFont typeface="Arial" charset="0"/>
              <a:buChar char="•"/>
            </a:pPr>
            <a:r>
              <a:rPr lang="en-US" sz="1600">
                <a:latin typeface="Arial" charset="0"/>
                <a:ea typeface="Arial" charset="0"/>
                <a:cs typeface="Arial" charset="0"/>
              </a:rPr>
              <a:t>Bullet</a:t>
            </a:r>
          </a:p>
        </p:txBody>
      </p:sp>
      <p:sp>
        <p:nvSpPr>
          <p:cNvPr id="5" name="Picture Placeholder 4"/>
          <p:cNvSpPr>
            <a:spLocks noGrp="1"/>
          </p:cNvSpPr>
          <p:nvPr>
            <p:ph type="pic" sz="quarter" idx="10"/>
          </p:nvPr>
        </p:nvSpPr>
        <p:spPr>
          <a:xfrm>
            <a:off x="6134101" y="1762126"/>
            <a:ext cx="5509684" cy="3238138"/>
          </a:xfrm>
          <a:prstGeom prst="rect">
            <a:avLst/>
          </a:prstGeom>
        </p:spPr>
        <p:txBody>
          <a:bodyPr/>
          <a:lstStyle>
            <a:lvl1pPr>
              <a:defRPr>
                <a:solidFill>
                  <a:schemeClr val="tx1">
                    <a:lumMod val="75000"/>
                    <a:lumOff val="25000"/>
                  </a:schemeClr>
                </a:solidFill>
              </a:defRPr>
            </a:lvl1pPr>
          </a:lstStyle>
          <a:p>
            <a:endParaRPr lang="en-US"/>
          </a:p>
        </p:txBody>
      </p:sp>
      <p:sp>
        <p:nvSpPr>
          <p:cNvPr id="7" name="Text Placeholder 5"/>
          <p:cNvSpPr>
            <a:spLocks noGrp="1"/>
          </p:cNvSpPr>
          <p:nvPr>
            <p:ph type="body" sz="quarter" idx="13" hasCustomPrompt="1"/>
          </p:nvPr>
        </p:nvSpPr>
        <p:spPr>
          <a:xfrm>
            <a:off x="537634" y="738554"/>
            <a:ext cx="7759700" cy="575100"/>
          </a:xfrm>
          <a:prstGeom prst="rect">
            <a:avLst/>
          </a:prstGeom>
        </p:spPr>
        <p:txBody>
          <a:bodyPr>
            <a:noAutofit/>
          </a:bodyPr>
          <a:lstStyle>
            <a:lvl1pPr marL="0" indent="0">
              <a:lnSpc>
                <a:spcPct val="100000"/>
              </a:lnSpc>
              <a:spcBef>
                <a:spcPts val="0"/>
              </a:spcBef>
              <a:buNone/>
              <a:defRPr>
                <a:solidFill>
                  <a:schemeClr val="tx1">
                    <a:lumMod val="75000"/>
                    <a:lumOff val="25000"/>
                  </a:schemeClr>
                </a:solidFill>
              </a:defRPr>
            </a:lvl1pPr>
          </a:lstStyle>
          <a:p>
            <a:r>
              <a:rPr lang="en-US" sz="2800" b="1">
                <a:latin typeface="Arial" charset="0"/>
                <a:ea typeface="Arial" charset="0"/>
                <a:cs typeface="Arial" charset="0"/>
              </a:rPr>
              <a:t>Student Careers</a:t>
            </a:r>
          </a:p>
        </p:txBody>
      </p:sp>
      <p:pic>
        <p:nvPicPr>
          <p:cNvPr id="8" name="Picture 7">
            <a:extLst>
              <a:ext uri="{FF2B5EF4-FFF2-40B4-BE49-F238E27FC236}">
                <a16:creationId xmlns:a16="http://schemas.microsoft.com/office/drawing/2014/main" id="{D2E32540-8940-2044-BED5-054D65D0BE79}"/>
              </a:ext>
            </a:extLst>
          </p:cNvPr>
          <p:cNvPicPr>
            <a:picLocks noChangeAspect="1"/>
          </p:cNvPicPr>
          <p:nvPr userDrawn="1"/>
        </p:nvPicPr>
        <p:blipFill rotWithShape="1">
          <a:blip r:embed="rId2"/>
          <a:srcRect l="-2201" t="149" r="558" b="661"/>
          <a:stretch/>
        </p:blipFill>
        <p:spPr>
          <a:xfrm>
            <a:off x="10244453" y="5068025"/>
            <a:ext cx="1774365" cy="1615049"/>
          </a:xfrm>
          <a:prstGeom prst="rect">
            <a:avLst/>
          </a:prstGeom>
        </p:spPr>
      </p:pic>
    </p:spTree>
    <p:extLst>
      <p:ext uri="{BB962C8B-B14F-4D97-AF65-F5344CB8AC3E}">
        <p14:creationId xmlns:p14="http://schemas.microsoft.com/office/powerpoint/2010/main" val="236356657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Organic Shapes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 Placeholder 3"/>
          <p:cNvSpPr>
            <a:spLocks noGrp="1"/>
          </p:cNvSpPr>
          <p:nvPr>
            <p:ph type="body" sz="quarter" idx="12"/>
          </p:nvPr>
        </p:nvSpPr>
        <p:spPr>
          <a:xfrm>
            <a:off x="1521068" y="2198076"/>
            <a:ext cx="9900139" cy="3226777"/>
          </a:xfrm>
          <a:prstGeom prst="rect">
            <a:avLst/>
          </a:prstGeom>
          <a:noFill/>
          <a:ln>
            <a:noFill/>
          </a:ln>
        </p:spPr>
        <p:txBody>
          <a:bodyPr/>
          <a:lstStyle>
            <a:lvl1pPr marL="0" indent="0">
              <a:buNone/>
              <a:defRPr sz="4000" b="1">
                <a:solidFill>
                  <a:schemeClr val="tx1"/>
                </a:solidFill>
                <a:latin typeface="Arial" panose="020B0604020202020204" pitchFamily="34" charset="0"/>
                <a:cs typeface="Arial" panose="020B0604020202020204" pitchFamily="34" charset="0"/>
              </a:defRPr>
            </a:lvl1pPr>
            <a:lvl2pPr marL="457200" indent="0">
              <a:buNone/>
              <a:defRPr sz="3600" b="1">
                <a:solidFill>
                  <a:schemeClr val="tx1"/>
                </a:solidFill>
                <a:latin typeface="Arial" panose="020B0604020202020204" pitchFamily="34" charset="0"/>
                <a:cs typeface="Arial" panose="020B0604020202020204" pitchFamily="34" charset="0"/>
              </a:defRPr>
            </a:lvl2pPr>
            <a:lvl3pPr marL="914400" indent="0">
              <a:buNone/>
              <a:defRPr sz="3200" b="1">
                <a:solidFill>
                  <a:schemeClr val="tx1"/>
                </a:solidFill>
                <a:latin typeface="Arial" panose="020B0604020202020204" pitchFamily="34" charset="0"/>
                <a:cs typeface="Arial" panose="020B0604020202020204" pitchFamily="34" charset="0"/>
              </a:defRPr>
            </a:lvl3pPr>
            <a:lvl4pPr marL="1371600" indent="0">
              <a:buNone/>
              <a:defRPr sz="2800" b="1">
                <a:solidFill>
                  <a:schemeClr val="tx1"/>
                </a:solidFill>
                <a:latin typeface="Arial" panose="020B0604020202020204" pitchFamily="34" charset="0"/>
                <a:cs typeface="Arial" panose="020B0604020202020204" pitchFamily="34" charset="0"/>
              </a:defRPr>
            </a:lvl4pPr>
            <a:lvl5pPr marL="1828800" indent="0">
              <a:buNone/>
              <a:defRPr sz="2800" b="1">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93461439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Organic Shapes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 Placeholder 3"/>
          <p:cNvSpPr>
            <a:spLocks noGrp="1"/>
          </p:cNvSpPr>
          <p:nvPr>
            <p:ph type="body" sz="quarter" idx="12"/>
          </p:nvPr>
        </p:nvSpPr>
        <p:spPr>
          <a:xfrm>
            <a:off x="1521068" y="2198076"/>
            <a:ext cx="9900139" cy="3226777"/>
          </a:xfrm>
          <a:prstGeom prst="rect">
            <a:avLst/>
          </a:prstGeom>
          <a:noFill/>
          <a:ln>
            <a:noFill/>
          </a:ln>
        </p:spPr>
        <p:txBody>
          <a:bodyPr/>
          <a:lstStyle>
            <a:lvl1pPr marL="0" indent="0">
              <a:buNone/>
              <a:defRPr sz="4000" b="1">
                <a:solidFill>
                  <a:schemeClr val="tx1"/>
                </a:solidFill>
                <a:latin typeface="Arial" panose="020B0604020202020204" pitchFamily="34" charset="0"/>
                <a:cs typeface="Arial" panose="020B0604020202020204" pitchFamily="34" charset="0"/>
              </a:defRPr>
            </a:lvl1pPr>
            <a:lvl2pPr marL="457200" indent="0">
              <a:buNone/>
              <a:defRPr sz="3600" b="1">
                <a:solidFill>
                  <a:schemeClr val="tx1"/>
                </a:solidFill>
                <a:latin typeface="Arial" panose="020B0604020202020204" pitchFamily="34" charset="0"/>
                <a:cs typeface="Arial" panose="020B0604020202020204" pitchFamily="34" charset="0"/>
              </a:defRPr>
            </a:lvl2pPr>
            <a:lvl3pPr marL="914400" indent="0">
              <a:buNone/>
              <a:defRPr sz="3200" b="1">
                <a:solidFill>
                  <a:schemeClr val="tx1"/>
                </a:solidFill>
                <a:latin typeface="Arial" panose="020B0604020202020204" pitchFamily="34" charset="0"/>
                <a:cs typeface="Arial" panose="020B0604020202020204" pitchFamily="34" charset="0"/>
              </a:defRPr>
            </a:lvl3pPr>
            <a:lvl4pPr marL="1371600" indent="0">
              <a:buNone/>
              <a:defRPr sz="2800" b="1">
                <a:solidFill>
                  <a:schemeClr val="tx1"/>
                </a:solidFill>
                <a:latin typeface="Arial" panose="020B0604020202020204" pitchFamily="34" charset="0"/>
                <a:cs typeface="Arial" panose="020B0604020202020204" pitchFamily="34" charset="0"/>
              </a:defRPr>
            </a:lvl4pPr>
            <a:lvl5pPr marL="1828800" indent="0">
              <a:buNone/>
              <a:defRPr sz="2800" b="1">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2928061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Organic Shapes end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 Placeholder 3"/>
          <p:cNvSpPr>
            <a:spLocks noGrp="1"/>
          </p:cNvSpPr>
          <p:nvPr>
            <p:ph type="body" sz="quarter" idx="12"/>
          </p:nvPr>
        </p:nvSpPr>
        <p:spPr>
          <a:xfrm>
            <a:off x="1521068" y="2198076"/>
            <a:ext cx="9900139" cy="3226777"/>
          </a:xfrm>
          <a:prstGeom prst="rect">
            <a:avLst/>
          </a:prstGeom>
          <a:noFill/>
          <a:ln>
            <a:noFill/>
          </a:ln>
        </p:spPr>
        <p:txBody>
          <a:bodyPr/>
          <a:lstStyle>
            <a:lvl1pPr marL="0" indent="0">
              <a:buNone/>
              <a:defRPr sz="4000" b="1">
                <a:solidFill>
                  <a:schemeClr val="tx1"/>
                </a:solidFill>
                <a:latin typeface="Arial" panose="020B0604020202020204" pitchFamily="34" charset="0"/>
                <a:cs typeface="Arial" panose="020B0604020202020204" pitchFamily="34" charset="0"/>
              </a:defRPr>
            </a:lvl1pPr>
            <a:lvl2pPr marL="457200" indent="0">
              <a:buNone/>
              <a:defRPr sz="3600" b="1">
                <a:solidFill>
                  <a:schemeClr val="tx1"/>
                </a:solidFill>
                <a:latin typeface="Arial" panose="020B0604020202020204" pitchFamily="34" charset="0"/>
                <a:cs typeface="Arial" panose="020B0604020202020204" pitchFamily="34" charset="0"/>
              </a:defRPr>
            </a:lvl2pPr>
            <a:lvl3pPr marL="914400" indent="0">
              <a:buNone/>
              <a:defRPr sz="3200" b="1">
                <a:solidFill>
                  <a:schemeClr val="tx1"/>
                </a:solidFill>
                <a:latin typeface="Arial" panose="020B0604020202020204" pitchFamily="34" charset="0"/>
                <a:cs typeface="Arial" panose="020B0604020202020204" pitchFamily="34" charset="0"/>
              </a:defRPr>
            </a:lvl3pPr>
            <a:lvl4pPr marL="1371600" indent="0">
              <a:buNone/>
              <a:defRPr sz="2800" b="1">
                <a:solidFill>
                  <a:schemeClr val="tx1"/>
                </a:solidFill>
                <a:latin typeface="Arial" panose="020B0604020202020204" pitchFamily="34" charset="0"/>
                <a:cs typeface="Arial" panose="020B0604020202020204" pitchFamily="34" charset="0"/>
              </a:defRPr>
            </a:lvl4pPr>
            <a:lvl5pPr marL="1828800" indent="0">
              <a:buNone/>
              <a:defRPr sz="2800" b="1">
                <a:solidFill>
                  <a:schemeClr val="tx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3601655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Organic Shapes Title slide">
    <p:spTree>
      <p:nvGrpSpPr>
        <p:cNvPr id="1" name=""/>
        <p:cNvGrpSpPr/>
        <p:nvPr/>
      </p:nvGrpSpPr>
      <p:grpSpPr>
        <a:xfrm>
          <a:off x="0" y="0"/>
          <a:ext cx="0" cy="0"/>
          <a:chOff x="0" y="0"/>
          <a:chExt cx="0" cy="0"/>
        </a:xfrm>
      </p:grpSpPr>
      <p:pic>
        <p:nvPicPr>
          <p:cNvPr id="5" name="Picture 4" descr="Background pattern&#10;&#10;Description automatically generated">
            <a:extLst>
              <a:ext uri="{FF2B5EF4-FFF2-40B4-BE49-F238E27FC236}">
                <a16:creationId xmlns:a16="http://schemas.microsoft.com/office/drawing/2014/main" id="{46C47E50-310C-D19D-6386-181CE0192D86}"/>
              </a:ext>
            </a:extLst>
          </p:cNvPr>
          <p:cNvPicPr>
            <a:picLocks noChangeAspect="1"/>
          </p:cNvPicPr>
          <p:nvPr userDrawn="1"/>
        </p:nvPicPr>
        <p:blipFill>
          <a:blip r:embed="rId2"/>
          <a:stretch>
            <a:fillRect/>
          </a:stretch>
        </p:blipFill>
        <p:spPr>
          <a:xfrm>
            <a:off x="7620" y="0"/>
            <a:ext cx="12176760" cy="6858000"/>
          </a:xfrm>
          <a:prstGeom prst="rect">
            <a:avLst/>
          </a:prstGeom>
        </p:spPr>
      </p:pic>
      <p:sp>
        <p:nvSpPr>
          <p:cNvPr id="6" name="Text Placeholder 3"/>
          <p:cNvSpPr>
            <a:spLocks noGrp="1"/>
          </p:cNvSpPr>
          <p:nvPr>
            <p:ph type="body" sz="quarter" idx="12"/>
          </p:nvPr>
        </p:nvSpPr>
        <p:spPr>
          <a:xfrm>
            <a:off x="1230923" y="2101369"/>
            <a:ext cx="10410092" cy="2453053"/>
          </a:xfrm>
          <a:prstGeom prst="rect">
            <a:avLst/>
          </a:prstGeom>
          <a:noFill/>
          <a:ln>
            <a:noFill/>
          </a:ln>
        </p:spPr>
        <p:txBody>
          <a:bodyPr/>
          <a:lstStyle>
            <a:lvl1pPr marL="0" indent="0">
              <a:buNone/>
              <a:defRPr sz="2250" b="1">
                <a:solidFill>
                  <a:sysClr val="windowText" lastClr="000000"/>
                </a:solidFill>
                <a:latin typeface="Arial" panose="020B0604020202020204" pitchFamily="34" charset="0"/>
                <a:cs typeface="Arial" panose="020B0604020202020204" pitchFamily="34" charset="0"/>
              </a:defRPr>
            </a:lvl1pPr>
            <a:lvl2pPr marL="257175" indent="0">
              <a:buNone/>
              <a:defRPr sz="2025" b="1">
                <a:solidFill>
                  <a:sysClr val="windowText" lastClr="000000"/>
                </a:solidFill>
                <a:latin typeface="Arial" panose="020B0604020202020204" pitchFamily="34" charset="0"/>
                <a:cs typeface="Arial" panose="020B0604020202020204" pitchFamily="34" charset="0"/>
              </a:defRPr>
            </a:lvl2pPr>
            <a:lvl3pPr marL="514350" indent="0">
              <a:buNone/>
              <a:defRPr sz="1800" b="1">
                <a:solidFill>
                  <a:sysClr val="windowText" lastClr="000000"/>
                </a:solidFill>
                <a:latin typeface="Arial" panose="020B0604020202020204" pitchFamily="34" charset="0"/>
                <a:cs typeface="Arial" panose="020B0604020202020204" pitchFamily="34" charset="0"/>
              </a:defRPr>
            </a:lvl3pPr>
            <a:lvl4pPr marL="771525" indent="0">
              <a:buNone/>
              <a:defRPr sz="1575" b="1">
                <a:solidFill>
                  <a:sysClr val="windowText" lastClr="000000"/>
                </a:solidFill>
                <a:latin typeface="Arial" panose="020B0604020202020204" pitchFamily="34" charset="0"/>
                <a:cs typeface="Arial" panose="020B0604020202020204" pitchFamily="34" charset="0"/>
              </a:defRPr>
            </a:lvl4pPr>
            <a:lvl5pPr marL="1028700" indent="0">
              <a:buNone/>
              <a:defRPr sz="1575" b="1">
                <a:solidFill>
                  <a:sysClr val="windowText" lastClr="000000"/>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79086607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5" Type="http://schemas.openxmlformats.org/officeDocument/2006/relationships/image" Target="../media/image2.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9.xml"/><Relationship Id="rId7" Type="http://schemas.openxmlformats.org/officeDocument/2006/relationships/theme" Target="../theme/theme3.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9" Type="http://schemas.openxmlformats.org/officeDocument/2006/relationships/image" Target="../media/image6.png"/></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slideLayout" Target="../slideLayouts/slideLayout21.xml"/><Relationship Id="rId1" Type="http://schemas.openxmlformats.org/officeDocument/2006/relationships/slideLayout" Target="../slideLayouts/slideLayout20.xml"/><Relationship Id="rId5" Type="http://schemas.openxmlformats.org/officeDocument/2006/relationships/theme" Target="../theme/theme5.xml"/><Relationship Id="rId4"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3755861"/>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1264834"/>
      </p:ext>
    </p:extLst>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8">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5682429"/>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4" r:id="rId4"/>
    <p:sldLayoutId id="2147483737" r:id="rId5"/>
    <p:sldLayoutId id="2147483738"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9">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4670631"/>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32" r:id="rId4"/>
    <p:sldLayoutId id="2147483733" r:id="rId5"/>
    <p:sldLayoutId id="2147483735" r:id="rId6"/>
    <p:sldLayoutId id="2147483739"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1177611"/>
      </p:ext>
    </p:extLst>
  </p:cSld>
  <p:clrMap bg1="lt1" tx1="dk1" bg2="lt2" tx2="dk2" accent1="accent1" accent2="accent2" accent3="accent3" accent4="accent4" accent5="accent5" accent6="accent6" hlink="hlink" folHlink="folHlink"/>
  <p:sldLayoutIdLst>
    <p:sldLayoutId id="2147483730" r:id="rId1"/>
    <p:sldLayoutId id="2147483707" r:id="rId2"/>
    <p:sldLayoutId id="2147483709" r:id="rId3"/>
    <p:sldLayoutId id="2147483731"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13.svg"/><Relationship Id="rId4" Type="http://schemas.openxmlformats.org/officeDocument/2006/relationships/image" Target="../media/image12.sv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15.jpeg"/></Relationships>
</file>

<file path=ppt/slides/_rels/slide6.xml.rels><?xml version="1.0" encoding="UTF-8" standalone="yes"?>
<Relationships xmlns="http://schemas.openxmlformats.org/package/2006/relationships"><Relationship Id="rId3" Type="http://schemas.openxmlformats.org/officeDocument/2006/relationships/hyperlink" Target="https://mycareer.leeds.ac.uk/" TargetMode="External"/><Relationship Id="rId2" Type="http://schemas.openxmlformats.org/officeDocument/2006/relationships/notesSlide" Target="../notesSlides/notesSlide4.xml"/><Relationship Id="rId1" Type="http://schemas.openxmlformats.org/officeDocument/2006/relationships/slideLayout" Target="../slideLayouts/slideLayout16.xml"/><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7.xml"/><Relationship Id="rId5" Type="http://schemas.openxmlformats.org/officeDocument/2006/relationships/hyperlink" Target="https://mycareer.leeds.ac.uk/" TargetMode="Externa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hyperlink" Target="https://www.gradcracker.com/" TargetMode="External"/><Relationship Id="rId2" Type="http://schemas.openxmlformats.org/officeDocument/2006/relationships/notesSlide" Target="../notesSlides/notesSlide7.xml"/><Relationship Id="rId1" Type="http://schemas.openxmlformats.org/officeDocument/2006/relationships/slideLayout" Target="../slideLayouts/slideLayout19.xml"/><Relationship Id="rId4" Type="http://schemas.openxmlformats.org/officeDocument/2006/relationships/hyperlink" Target="https://www.brightnetwork.co.uk/"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hyperlink" Target="mailto:EPSemployability@leeds.ac.uk" TargetMode="External"/><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20.png"/><Relationship Id="rId5" Type="http://schemas.openxmlformats.org/officeDocument/2006/relationships/hyperlink" Target="https://minerva.leeds.ac.uk/ultra/organizations/_513485_1/outline" TargetMode="External"/><Relationship Id="rId4" Type="http://schemas.openxmlformats.org/officeDocument/2006/relationships/hyperlink" Target="https://adfs.leeds.ac.uk/adfs/ls/?SAMLRequest=jZJRT8IwEMe/StP3td2YOBoGQYiRBHWB4YNv3XbAYtfOXYf67Z1DEnwhvvbu31/vdx1PPytNjtBgaU1MfSYoAZPbojT7mG7Tey%2Bi08kYVaVrOWvdwazhvQV0pMsZlH0hpm1jpFVYojSqApQul5vZ40oGTMi6sc7mVlMyQ4TGdaC5NdhW0GygOZY5bNermB6cq1Fyru2%2BNMzWYJQ7gEFmwPEfDA%2B4ypGSRUcvu2L/4HNKFTtkGqBApnLWvvUHXCOnZLmIKYwKIbJhFIxUFmb%2BTmXD8GYwKoZZFCgQedeF2MLSoFPGxTQQgfCE7/mD1BcyvJXhiIVR9EpJ8jvNXWlOjq6Nnp2aUD6kaeIlz5uUkpez666BnszKHt5cKL1%2BrTp7pJP/WKvAqUI55WE95he881qfOsBykVhd5l9kprX9mDegHHTfgfLJKfJ3%2BZNv&amp;RelayState=/saml/2/sso/leeds.ac.uk/c/ukfed?SAMLEncoding%3Durn:oasis:names:tc:SAML:2.0:bindings:URL-Encoding:DEFLATE%26SAMLRequest%3DfZHBTsJAEIbvPMVm79ttFxDYtCRVE22C2kAxxtu2DKUJncWdrfr4VkTDRa6T75uZfyZOO7/DJbx1%0aQJ5ltwm/W6ePL5kQk7IcjjamFNHVdjqezdR2NhYTU045ewZHjcWEqyDkLCPqIEPyBn1fClUowkhE%0awyIK9WiiR9NXzlIicL53bixS14JbgXtvKlgvFwnfeX8gLSWZdq8Cb1wNvrKIUPkAwR/rgHWDoCQp%0a%2BVESWWkq4ix31tvK7q8b3DRYJ7xzqK2hhjSaFkj7Sq/Sh4XuF9XlD0T6vihykT%2BtCs4%2B2z3SZe1w%0amnGCdc9eFsxvVj4fMBZ/o8cTuflf0EPfdPNPUhXLM2UQy/MPzb8A%26RelayState%3DENGINE_1fee2623--16f9e2ab150---43bd"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E03C769-3DD6-4487-849F-59F6BD24DD56}"/>
              </a:ext>
            </a:extLst>
          </p:cNvPr>
          <p:cNvSpPr>
            <a:spLocks noGrp="1"/>
          </p:cNvSpPr>
          <p:nvPr>
            <p:ph type="body" sz="quarter" idx="12"/>
          </p:nvPr>
        </p:nvSpPr>
        <p:spPr/>
        <p:txBody>
          <a:bodyPr/>
          <a:lstStyle/>
          <a:p>
            <a:pPr algn="r"/>
            <a:r>
              <a:rPr lang="en-GB" sz="4400" i="1" dirty="0">
                <a:solidFill>
                  <a:srgbClr val="CB1953"/>
                </a:solidFill>
                <a:latin typeface="Arial"/>
                <a:ea typeface="Calibri"/>
                <a:cs typeface="Arial"/>
              </a:rPr>
              <a:t>Level 2 Employability Resources </a:t>
            </a:r>
          </a:p>
          <a:p>
            <a:pPr algn="r"/>
            <a:r>
              <a:rPr lang="en-GB" sz="2400" b="0" i="1" dirty="0">
                <a:solidFill>
                  <a:srgbClr val="CB1953"/>
                </a:solidFill>
                <a:latin typeface="Arial"/>
                <a:ea typeface="Calibri"/>
                <a:cs typeface="Arial"/>
              </a:rPr>
              <a:t>School of Maths - Semester 1, 2026/27</a:t>
            </a:r>
          </a:p>
          <a:p>
            <a:endParaRPr lang="en-GB" sz="2400" dirty="0">
              <a:solidFill>
                <a:srgbClr val="178884"/>
              </a:solidFill>
              <a:latin typeface="Arial"/>
              <a:ea typeface="Calibri"/>
              <a:cs typeface="Arial"/>
            </a:endParaRPr>
          </a:p>
          <a:p>
            <a:r>
              <a:rPr lang="en-GB" sz="2000" dirty="0">
                <a:solidFill>
                  <a:srgbClr val="178884"/>
                </a:solidFill>
                <a:latin typeface="Arial"/>
                <a:ea typeface="Calibri"/>
                <a:cs typeface="Arial"/>
              </a:rPr>
              <a:t>Nicola Oliver, Lynn Johnson, Katie Thorley</a:t>
            </a:r>
          </a:p>
          <a:p>
            <a:r>
              <a:rPr lang="en-GB" sz="2000" b="0" i="1" dirty="0">
                <a:solidFill>
                  <a:srgbClr val="178884"/>
                </a:solidFill>
                <a:latin typeface="Arial"/>
                <a:ea typeface="Calibri"/>
                <a:cs typeface="Arial"/>
              </a:rPr>
              <a:t>Senior EPS Employability &amp; Placement Officers</a:t>
            </a:r>
          </a:p>
          <a:p>
            <a:pPr algn="r"/>
            <a:endParaRPr lang="en-GB" sz="2400" dirty="0"/>
          </a:p>
        </p:txBody>
      </p:sp>
    </p:spTree>
    <p:extLst>
      <p:ext uri="{BB962C8B-B14F-4D97-AF65-F5344CB8AC3E}">
        <p14:creationId xmlns:p14="http://schemas.microsoft.com/office/powerpoint/2010/main" val="41801941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6396EDD-6C22-0DC6-BD37-A457BF7B5E54}"/>
              </a:ext>
            </a:extLst>
          </p:cNvPr>
          <p:cNvSpPr>
            <a:spLocks noGrp="1"/>
          </p:cNvSpPr>
          <p:nvPr>
            <p:ph type="body" sz="quarter" idx="10"/>
          </p:nvPr>
        </p:nvSpPr>
        <p:spPr/>
        <p:txBody>
          <a:bodyPr lIns="91440" tIns="45720" rIns="91440" bIns="45720" anchor="t"/>
          <a:lstStyle/>
          <a:p>
            <a:pPr marL="0" indent="0">
              <a:buNone/>
            </a:pPr>
            <a:endParaRPr lang="en-GB" dirty="0"/>
          </a:p>
          <a:p>
            <a:pPr>
              <a:buFont typeface="Arial" panose="020B0604020202020204" pitchFamily="34" charset="0"/>
              <a:buChar char="•"/>
            </a:pPr>
            <a:r>
              <a:rPr lang="en-GB" dirty="0"/>
              <a:t>Benefits of Work Experience</a:t>
            </a:r>
          </a:p>
          <a:p>
            <a:pPr>
              <a:buFont typeface="Arial" panose="020B0604020202020204" pitchFamily="34" charset="0"/>
              <a:buChar char="•"/>
            </a:pPr>
            <a:r>
              <a:rPr lang="en-GB" dirty="0"/>
              <a:t>Summer Internships/Placement Year</a:t>
            </a:r>
          </a:p>
          <a:p>
            <a:pPr>
              <a:buFont typeface="Arial" panose="020B0604020202020204" pitchFamily="34" charset="0"/>
              <a:buChar char="•"/>
            </a:pPr>
            <a:r>
              <a:rPr lang="en-GB" dirty="0"/>
              <a:t>My Career</a:t>
            </a:r>
          </a:p>
          <a:p>
            <a:pPr>
              <a:buFont typeface="Arial" panose="020B0604020202020204" pitchFamily="34" charset="0"/>
              <a:buChar char="•"/>
            </a:pPr>
            <a:r>
              <a:rPr lang="en-GB" dirty="0"/>
              <a:t>Minerva</a:t>
            </a:r>
          </a:p>
          <a:p>
            <a:pPr>
              <a:buFont typeface="Arial" panose="020B0604020202020204" pitchFamily="34" charset="0"/>
              <a:buChar char="•"/>
            </a:pPr>
            <a:r>
              <a:rPr lang="en-GB" dirty="0"/>
              <a:t>Where to search for Opportunities</a:t>
            </a:r>
          </a:p>
          <a:p>
            <a:pPr>
              <a:buFont typeface="Arial" panose="020B0604020202020204" pitchFamily="34" charset="0"/>
              <a:buChar char="•"/>
            </a:pPr>
            <a:r>
              <a:rPr lang="en-GB" dirty="0"/>
              <a:t>EPS Employability Team</a:t>
            </a:r>
          </a:p>
          <a:p>
            <a:r>
              <a:rPr lang="en-GB" dirty="0"/>
              <a:t>Next Steps</a:t>
            </a:r>
          </a:p>
        </p:txBody>
      </p:sp>
      <p:sp>
        <p:nvSpPr>
          <p:cNvPr id="3" name="Text Placeholder 2">
            <a:extLst>
              <a:ext uri="{FF2B5EF4-FFF2-40B4-BE49-F238E27FC236}">
                <a16:creationId xmlns:a16="http://schemas.microsoft.com/office/drawing/2014/main" id="{5FA2D637-AA35-4236-96B2-997D248C29F1}"/>
              </a:ext>
            </a:extLst>
          </p:cNvPr>
          <p:cNvSpPr>
            <a:spLocks noGrp="1"/>
          </p:cNvSpPr>
          <p:nvPr>
            <p:ph type="body" sz="quarter" idx="11"/>
          </p:nvPr>
        </p:nvSpPr>
        <p:spPr/>
        <p:txBody>
          <a:bodyPr/>
          <a:lstStyle/>
          <a:p>
            <a:r>
              <a:rPr lang="en-GB" b="1" dirty="0"/>
              <a:t>Today’s Agenda</a:t>
            </a:r>
          </a:p>
        </p:txBody>
      </p:sp>
    </p:spTree>
    <p:extLst>
      <p:ext uri="{BB962C8B-B14F-4D97-AF65-F5344CB8AC3E}">
        <p14:creationId xmlns:p14="http://schemas.microsoft.com/office/powerpoint/2010/main" val="27583738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B9900-17CA-F248-A5E0-628E7E42A7A6}"/>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5318B926-E5FE-6293-4A1D-9298C3611F71}"/>
              </a:ext>
            </a:extLst>
          </p:cNvPr>
          <p:cNvSpPr>
            <a:spLocks noGrp="1"/>
          </p:cNvSpPr>
          <p:nvPr>
            <p:ph type="body" sz="quarter" idx="13"/>
          </p:nvPr>
        </p:nvSpPr>
        <p:spPr>
          <a:xfrm>
            <a:off x="537633" y="738554"/>
            <a:ext cx="8202329" cy="575100"/>
          </a:xfrm>
        </p:spPr>
        <p:txBody>
          <a:bodyPr/>
          <a:lstStyle/>
          <a:p>
            <a:r>
              <a:rPr lang="en-GB"/>
              <a:t>Benefits of Work Experience (Maths)</a:t>
            </a:r>
          </a:p>
        </p:txBody>
      </p:sp>
      <p:sp>
        <p:nvSpPr>
          <p:cNvPr id="2" name="Text Placeholder 1">
            <a:extLst>
              <a:ext uri="{FF2B5EF4-FFF2-40B4-BE49-F238E27FC236}">
                <a16:creationId xmlns:a16="http://schemas.microsoft.com/office/drawing/2014/main" id="{1C56D410-149D-E5A1-64D8-F5C6D045F94E}"/>
              </a:ext>
            </a:extLst>
          </p:cNvPr>
          <p:cNvSpPr txBox="1">
            <a:spLocks/>
          </p:cNvSpPr>
          <p:nvPr/>
        </p:nvSpPr>
        <p:spPr>
          <a:xfrm>
            <a:off x="718504" y="1436321"/>
            <a:ext cx="4038303" cy="4683125"/>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2000" b="1" i="0" u="none" strike="noStrike" kern="1200" cap="none" spc="0" normalizeH="0" baseline="0" noProof="0">
                <a:ln>
                  <a:noFill/>
                </a:ln>
                <a:solidFill>
                  <a:prstClr val="black">
                    <a:lumMod val="75000"/>
                    <a:lumOff val="25000"/>
                  </a:prstClr>
                </a:solidFill>
                <a:effectLst/>
                <a:uLnTx/>
                <a:uFillTx/>
                <a:latin typeface="Arial" panose="020B0604020202020204"/>
                <a:ea typeface="+mn-ea"/>
                <a:cs typeface="+mn-cs"/>
              </a:rPr>
              <a:t>In the most recent Graduate Outcomes Survey…</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GB" sz="2000" b="0" i="0" u="none" strike="noStrike" kern="1200" cap="none" spc="0" normalizeH="0" baseline="0" noProof="0">
              <a:ln>
                <a:noFill/>
              </a:ln>
              <a:solidFill>
                <a:prstClr val="black">
                  <a:lumMod val="75000"/>
                  <a:lumOff val="25000"/>
                </a:prstClr>
              </a:solidFill>
              <a:effectLst/>
              <a:uLnTx/>
              <a:uFillTx/>
              <a:latin typeface="Arial" panose="020B060402020202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2000" b="1" i="0" u="none" strike="noStrike" kern="1200" cap="none" spc="0" normalizeH="0" baseline="0" noProof="0">
                <a:ln>
                  <a:noFill/>
                </a:ln>
                <a:solidFill>
                  <a:prstClr val="black">
                    <a:lumMod val="75000"/>
                    <a:lumOff val="25000"/>
                  </a:prstClr>
                </a:solidFill>
                <a:effectLst/>
                <a:uLnTx/>
                <a:uFillTx/>
                <a:latin typeface="Arial" panose="020B0604020202020204"/>
                <a:ea typeface="+mn-ea"/>
                <a:cs typeface="+mn-cs"/>
              </a:rPr>
              <a:t>92.9%</a:t>
            </a:r>
            <a:r>
              <a:rPr kumimoji="0" lang="en-GB" sz="2000" b="0" i="0" u="none" strike="noStrike" kern="1200" cap="none" spc="0" normalizeH="0" baseline="0" noProof="0">
                <a:ln>
                  <a:noFill/>
                </a:ln>
                <a:solidFill>
                  <a:prstClr val="black">
                    <a:lumMod val="75000"/>
                    <a:lumOff val="25000"/>
                  </a:prstClr>
                </a:solidFill>
                <a:effectLst/>
                <a:uLnTx/>
                <a:uFillTx/>
                <a:latin typeface="Arial" panose="020B0604020202020204"/>
                <a:ea typeface="+mn-ea"/>
                <a:cs typeface="+mn-cs"/>
              </a:rPr>
              <a:t> of Maths Students who took a Year in Industry are now in </a:t>
            </a:r>
            <a:r>
              <a:rPr kumimoji="0" lang="en-GB" sz="2000" b="1" i="0" u="none" strike="noStrike" kern="1200" cap="none" spc="0" normalizeH="0" baseline="0" noProof="0">
                <a:ln>
                  <a:noFill/>
                </a:ln>
                <a:solidFill>
                  <a:prstClr val="black">
                    <a:lumMod val="75000"/>
                    <a:lumOff val="25000"/>
                  </a:prstClr>
                </a:solidFill>
                <a:effectLst/>
                <a:uLnTx/>
                <a:uFillTx/>
                <a:latin typeface="Arial" panose="020B0604020202020204"/>
                <a:ea typeface="+mn-ea"/>
                <a:cs typeface="+mn-cs"/>
              </a:rPr>
              <a:t>‘highly skilled’ Employment.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2000" b="0" i="0" u="none" strike="noStrike" kern="1200" cap="none" spc="0" normalizeH="0" baseline="0" noProof="0">
                <a:ln>
                  <a:noFill/>
                </a:ln>
                <a:solidFill>
                  <a:prstClr val="black">
                    <a:lumMod val="75000"/>
                    <a:lumOff val="25000"/>
                  </a:prstClr>
                </a:solidFill>
                <a:effectLst/>
                <a:uLnTx/>
                <a:uFillTx/>
                <a:latin typeface="Arial" panose="020B0604020202020204"/>
                <a:ea typeface="+mn-ea"/>
                <a:cs typeface="+mn-cs"/>
              </a:rPr>
              <a:t>(74.4% for graduates who didn’t)</a:t>
            </a:r>
            <a:endParaRPr kumimoji="0" lang="en-GB" sz="2000" b="0" i="0" u="none" strike="noStrike" kern="1200" cap="none" spc="0" normalizeH="0" baseline="0" noProof="0">
              <a:ln>
                <a:noFill/>
              </a:ln>
              <a:solidFill>
                <a:prstClr val="black">
                  <a:lumMod val="75000"/>
                  <a:lumOff val="25000"/>
                </a:prstClr>
              </a:solidFill>
              <a:effectLst/>
              <a:uLnTx/>
              <a:uFillTx/>
              <a:latin typeface="Arial" panose="020B0604020202020204"/>
              <a:ea typeface="+mn-ea"/>
              <a:cs typeface="Arial"/>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GB" sz="2000" b="0" i="0" u="none" strike="noStrike" kern="1200" cap="none" spc="0" normalizeH="0" baseline="0" noProof="0">
              <a:ln>
                <a:noFill/>
              </a:ln>
              <a:solidFill>
                <a:prstClr val="black">
                  <a:lumMod val="75000"/>
                  <a:lumOff val="25000"/>
                </a:prstClr>
              </a:solidFill>
              <a:effectLst/>
              <a:uLnTx/>
              <a:uFillTx/>
              <a:latin typeface="Arial" panose="020B060402020202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2000" b="1" i="0" u="none" strike="noStrike" kern="1200" cap="none" spc="0" normalizeH="0" baseline="0" noProof="0">
                <a:ln>
                  <a:noFill/>
                </a:ln>
                <a:solidFill>
                  <a:prstClr val="black">
                    <a:lumMod val="75000"/>
                    <a:lumOff val="25000"/>
                  </a:prstClr>
                </a:solidFill>
                <a:effectLst/>
                <a:uLnTx/>
                <a:uFillTx/>
                <a:latin typeface="Arial" panose="020B0604020202020204"/>
                <a:ea typeface="+mn-ea"/>
                <a:cs typeface="+mn-cs"/>
              </a:rPr>
              <a:t>88.2%</a:t>
            </a:r>
            <a:r>
              <a:rPr kumimoji="0" lang="en-GB" sz="2000" b="0" i="0" u="none" strike="noStrike" kern="1200" cap="none" spc="0" normalizeH="0" baseline="0" noProof="0">
                <a:ln>
                  <a:noFill/>
                </a:ln>
                <a:solidFill>
                  <a:prstClr val="black">
                    <a:lumMod val="75000"/>
                    <a:lumOff val="25000"/>
                  </a:prstClr>
                </a:solidFill>
                <a:effectLst/>
                <a:uLnTx/>
                <a:uFillTx/>
                <a:latin typeface="Arial" panose="020B0604020202020204"/>
                <a:ea typeface="+mn-ea"/>
                <a:cs typeface="+mn-cs"/>
              </a:rPr>
              <a:t> of Maths Students who took a Year in Industry say their destination </a:t>
            </a:r>
            <a:r>
              <a:rPr kumimoji="0" lang="en-GB" sz="2000" b="1" i="0" u="none" strike="noStrike" kern="1200" cap="none" spc="0" normalizeH="0" baseline="0" noProof="0">
                <a:ln>
                  <a:noFill/>
                </a:ln>
                <a:solidFill>
                  <a:prstClr val="black">
                    <a:lumMod val="75000"/>
                    <a:lumOff val="25000"/>
                  </a:prstClr>
                </a:solidFill>
                <a:effectLst/>
                <a:uLnTx/>
                <a:uFillTx/>
                <a:latin typeface="Arial" panose="020B0604020202020204"/>
                <a:ea typeface="+mn-ea"/>
                <a:cs typeface="+mn-cs"/>
              </a:rPr>
              <a:t>fits future plans </a:t>
            </a:r>
            <a:r>
              <a:rPr kumimoji="0" lang="en-GB" sz="2000" b="0" i="0" u="none" strike="noStrike" kern="1200" cap="none" spc="0" normalizeH="0" baseline="0" noProof="0">
                <a:ln>
                  <a:noFill/>
                </a:ln>
                <a:solidFill>
                  <a:prstClr val="black">
                    <a:lumMod val="75000"/>
                    <a:lumOff val="25000"/>
                  </a:prstClr>
                </a:solidFill>
                <a:effectLst/>
                <a:uLnTx/>
                <a:uFillTx/>
                <a:latin typeface="Arial" panose="020B0604020202020204"/>
                <a:ea typeface="+mn-ea"/>
                <a:cs typeface="+mn-cs"/>
              </a:rPr>
              <a:t>(69.0% for graduates who didn’t)</a:t>
            </a:r>
            <a:endParaRPr kumimoji="0" lang="en-GB" sz="2000" b="0" i="0" u="none" strike="noStrike" kern="1200" cap="none" spc="0" normalizeH="0" baseline="0" noProof="0">
              <a:ln>
                <a:noFill/>
              </a:ln>
              <a:solidFill>
                <a:prstClr val="black">
                  <a:lumMod val="75000"/>
                  <a:lumOff val="25000"/>
                </a:prstClr>
              </a:solidFill>
              <a:effectLst/>
              <a:uLnTx/>
              <a:uFillTx/>
              <a:latin typeface="Arial" panose="020B0604020202020204"/>
              <a:ea typeface="+mn-ea"/>
              <a:cs typeface="Arial"/>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GB" sz="2000" b="0" i="0" u="none" strike="noStrike" kern="1200" cap="none" spc="0" normalizeH="0" baseline="0" noProof="0">
              <a:ln>
                <a:noFill/>
              </a:ln>
              <a:solidFill>
                <a:prstClr val="black">
                  <a:lumMod val="75000"/>
                  <a:lumOff val="25000"/>
                </a:prstClr>
              </a:solidFill>
              <a:effectLst/>
              <a:uLnTx/>
              <a:uFillTx/>
              <a:latin typeface="Arial" panose="020B0604020202020204"/>
              <a:ea typeface="+mn-ea"/>
              <a:cs typeface="+mn-cs"/>
            </a:endParaRPr>
          </a:p>
        </p:txBody>
      </p:sp>
      <p:pic>
        <p:nvPicPr>
          <p:cNvPr id="5" name="Picture 4">
            <a:extLst>
              <a:ext uri="{FF2B5EF4-FFF2-40B4-BE49-F238E27FC236}">
                <a16:creationId xmlns:a16="http://schemas.microsoft.com/office/drawing/2014/main" id="{E4D7173F-8FB4-C468-C7D2-9083877BC7C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756807" y="1715629"/>
            <a:ext cx="7467600" cy="4124507"/>
          </a:xfrm>
          <a:prstGeom prst="rect">
            <a:avLst/>
          </a:prstGeom>
        </p:spPr>
      </p:pic>
    </p:spTree>
    <p:extLst>
      <p:ext uri="{BB962C8B-B14F-4D97-AF65-F5344CB8AC3E}">
        <p14:creationId xmlns:p14="http://schemas.microsoft.com/office/powerpoint/2010/main" val="9241141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0BF39-ED44-D767-34D6-AF57BF7A676E}"/>
              </a:ext>
            </a:extLst>
          </p:cNvPr>
          <p:cNvSpPr>
            <a:spLocks noGrp="1"/>
          </p:cNvSpPr>
          <p:nvPr>
            <p:ph type="title"/>
          </p:nvPr>
        </p:nvSpPr>
        <p:spPr>
          <a:xfrm>
            <a:off x="838200" y="365127"/>
            <a:ext cx="10515600" cy="1325563"/>
          </a:xfrm>
        </p:spPr>
        <p:txBody>
          <a:bodyPr/>
          <a:lstStyle/>
          <a:p>
            <a:r>
              <a:rPr lang="en-GB" sz="3200" b="1" dirty="0">
                <a:solidFill>
                  <a:schemeClr val="accent5">
                    <a:lumMod val="50000"/>
                  </a:schemeClr>
                </a:solidFill>
                <a:latin typeface="+mn-lt"/>
                <a:ea typeface="+mn-lt"/>
                <a:cs typeface="+mn-lt"/>
              </a:rPr>
              <a:t>Paid Work Experience Opportunities</a:t>
            </a:r>
          </a:p>
        </p:txBody>
      </p:sp>
      <p:graphicFrame>
        <p:nvGraphicFramePr>
          <p:cNvPr id="3" name="Table 3">
            <a:extLst>
              <a:ext uri="{FF2B5EF4-FFF2-40B4-BE49-F238E27FC236}">
                <a16:creationId xmlns:a16="http://schemas.microsoft.com/office/drawing/2014/main" id="{3532F288-CCD6-F240-3A63-5B17ABC6356D}"/>
              </a:ext>
            </a:extLst>
          </p:cNvPr>
          <p:cNvGraphicFramePr>
            <a:graphicFrameLocks noGrp="1"/>
          </p:cNvGraphicFramePr>
          <p:nvPr>
            <p:extLst>
              <p:ext uri="{D42A27DB-BD31-4B8C-83A1-F6EECF244321}">
                <p14:modId xmlns:p14="http://schemas.microsoft.com/office/powerpoint/2010/main" val="1389117378"/>
              </p:ext>
            </p:extLst>
          </p:nvPr>
        </p:nvGraphicFramePr>
        <p:xfrm>
          <a:off x="484470" y="1249380"/>
          <a:ext cx="11223059" cy="5051028"/>
        </p:xfrm>
        <a:graphic>
          <a:graphicData uri="http://schemas.openxmlformats.org/drawingml/2006/table">
            <a:tbl>
              <a:tblPr firstRow="1" bandRow="1">
                <a:tableStyleId>{5940675A-B579-460E-94D1-54222C63F5DA}</a:tableStyleId>
              </a:tblPr>
              <a:tblGrid>
                <a:gridCol w="1578543">
                  <a:extLst>
                    <a:ext uri="{9D8B030D-6E8A-4147-A177-3AD203B41FA5}">
                      <a16:colId xmlns:a16="http://schemas.microsoft.com/office/drawing/2014/main" val="98055719"/>
                    </a:ext>
                  </a:extLst>
                </a:gridCol>
                <a:gridCol w="4748618">
                  <a:extLst>
                    <a:ext uri="{9D8B030D-6E8A-4147-A177-3AD203B41FA5}">
                      <a16:colId xmlns:a16="http://schemas.microsoft.com/office/drawing/2014/main" val="3198205164"/>
                    </a:ext>
                  </a:extLst>
                </a:gridCol>
                <a:gridCol w="4895898">
                  <a:extLst>
                    <a:ext uri="{9D8B030D-6E8A-4147-A177-3AD203B41FA5}">
                      <a16:colId xmlns:a16="http://schemas.microsoft.com/office/drawing/2014/main" val="1584330860"/>
                    </a:ext>
                  </a:extLst>
                </a:gridCol>
              </a:tblGrid>
              <a:tr h="678120">
                <a:tc>
                  <a:txBody>
                    <a:bodyPr/>
                    <a:lstStyle/>
                    <a:p>
                      <a:pPr algn="ctr"/>
                      <a:endParaRPr lang="en-GB" dirty="0"/>
                    </a:p>
                  </a:txBody>
                  <a:tcPr anchor="ctr">
                    <a:solidFill>
                      <a:schemeClr val="bg1">
                        <a:lumMod val="95000"/>
                      </a:schemeClr>
                    </a:solidFill>
                  </a:tcPr>
                </a:tc>
                <a:tc>
                  <a:txBody>
                    <a:bodyPr/>
                    <a:lstStyle/>
                    <a:p>
                      <a:pPr algn="ctr"/>
                      <a:r>
                        <a:rPr lang="en-GB" sz="2800" b="1" dirty="0">
                          <a:solidFill>
                            <a:schemeClr val="bg1"/>
                          </a:solidFill>
                          <a:effectLst>
                            <a:outerShdw blurRad="38100" dist="38100" dir="2700000" algn="tl">
                              <a:srgbClr val="000000">
                                <a:alpha val="43137"/>
                              </a:srgbClr>
                            </a:outerShdw>
                          </a:effectLst>
                        </a:rPr>
                        <a:t>Summer Internship</a:t>
                      </a:r>
                    </a:p>
                  </a:txBody>
                  <a:tcPr anchor="ctr">
                    <a:solidFill>
                      <a:srgbClr val="E98708"/>
                    </a:solidFill>
                  </a:tcPr>
                </a:tc>
                <a:tc>
                  <a:txBody>
                    <a:bodyPr/>
                    <a:lstStyle/>
                    <a:p>
                      <a:pPr algn="ctr"/>
                      <a:r>
                        <a:rPr lang="en-GB" sz="2800" b="1" dirty="0">
                          <a:solidFill>
                            <a:schemeClr val="bg1"/>
                          </a:solidFill>
                          <a:effectLst>
                            <a:outerShdw blurRad="38100" dist="38100" dir="2700000" algn="tl">
                              <a:srgbClr val="000000">
                                <a:alpha val="43137"/>
                              </a:srgbClr>
                            </a:outerShdw>
                          </a:effectLst>
                        </a:rPr>
                        <a:t>Industrial Placement</a:t>
                      </a:r>
                    </a:p>
                  </a:txBody>
                  <a:tcPr anchor="ctr">
                    <a:solidFill>
                      <a:srgbClr val="947AE5"/>
                    </a:solidFill>
                  </a:tcPr>
                </a:tc>
                <a:extLst>
                  <a:ext uri="{0D108BD9-81ED-4DB2-BD59-A6C34878D82A}">
                    <a16:rowId xmlns:a16="http://schemas.microsoft.com/office/drawing/2014/main" val="2246336299"/>
                  </a:ext>
                </a:extLst>
              </a:tr>
              <a:tr h="631974">
                <a:tc>
                  <a:txBody>
                    <a:bodyPr/>
                    <a:lstStyle/>
                    <a:p>
                      <a:pPr algn="ctr"/>
                      <a:r>
                        <a:rPr lang="en-GB" sz="2000" b="1"/>
                        <a:t>Paid:</a:t>
                      </a:r>
                    </a:p>
                  </a:txBody>
                  <a:tcPr anchor="ctr">
                    <a:solidFill>
                      <a:schemeClr val="bg1">
                        <a:lumMod val="95000"/>
                      </a:schemeClr>
                    </a:solidFill>
                  </a:tcPr>
                </a:tc>
                <a:tc>
                  <a:txBody>
                    <a:bodyPr/>
                    <a:lstStyle/>
                    <a:p>
                      <a:pPr algn="ctr"/>
                      <a:endParaRPr lang="en-GB" dirty="0"/>
                    </a:p>
                  </a:txBody>
                  <a:tcPr anchor="ctr"/>
                </a:tc>
                <a:tc>
                  <a:txBody>
                    <a:bodyPr/>
                    <a:lstStyle/>
                    <a:p>
                      <a:pPr algn="ctr"/>
                      <a:endParaRPr lang="en-GB"/>
                    </a:p>
                  </a:txBody>
                  <a:tcPr anchor="ctr"/>
                </a:tc>
                <a:extLst>
                  <a:ext uri="{0D108BD9-81ED-4DB2-BD59-A6C34878D82A}">
                    <a16:rowId xmlns:a16="http://schemas.microsoft.com/office/drawing/2014/main" val="308824772"/>
                  </a:ext>
                </a:extLst>
              </a:tr>
              <a:tr h="631974">
                <a:tc>
                  <a:txBody>
                    <a:bodyPr/>
                    <a:lstStyle/>
                    <a:p>
                      <a:pPr algn="ctr"/>
                      <a:r>
                        <a:rPr lang="en-GB" sz="2000" b="1"/>
                        <a:t>Length:</a:t>
                      </a:r>
                    </a:p>
                  </a:txBody>
                  <a:tcPr anchor="ctr">
                    <a:solidFill>
                      <a:schemeClr val="bg1">
                        <a:lumMod val="95000"/>
                      </a:schemeClr>
                    </a:solidFill>
                  </a:tcPr>
                </a:tc>
                <a:tc>
                  <a:txBody>
                    <a:bodyPr/>
                    <a:lstStyle/>
                    <a:p>
                      <a:pPr algn="ctr"/>
                      <a:r>
                        <a:rPr lang="en-GB" sz="2000"/>
                        <a:t>8 – 12 weeks</a:t>
                      </a:r>
                    </a:p>
                  </a:txBody>
                  <a:tcPr anchor="ctr"/>
                </a:tc>
                <a:tc>
                  <a:txBody>
                    <a:bodyPr/>
                    <a:lstStyle/>
                    <a:p>
                      <a:pPr algn="ctr"/>
                      <a:r>
                        <a:rPr lang="en-GB" sz="2000"/>
                        <a:t>9 – 12 months</a:t>
                      </a:r>
                    </a:p>
                  </a:txBody>
                  <a:tcPr anchor="ctr"/>
                </a:tc>
                <a:extLst>
                  <a:ext uri="{0D108BD9-81ED-4DB2-BD59-A6C34878D82A}">
                    <a16:rowId xmlns:a16="http://schemas.microsoft.com/office/drawing/2014/main" val="2942268298"/>
                  </a:ext>
                </a:extLst>
              </a:tr>
              <a:tr h="658429">
                <a:tc>
                  <a:txBody>
                    <a:bodyPr/>
                    <a:lstStyle/>
                    <a:p>
                      <a:pPr algn="ctr"/>
                      <a:r>
                        <a:rPr lang="en-GB" sz="2000" b="1"/>
                        <a:t>When:</a:t>
                      </a:r>
                    </a:p>
                  </a:txBody>
                  <a:tcPr anchor="ctr">
                    <a:solidFill>
                      <a:schemeClr val="bg1">
                        <a:lumMod val="95000"/>
                      </a:schemeClr>
                    </a:solidFill>
                  </a:tcPr>
                </a:tc>
                <a:tc>
                  <a:txBody>
                    <a:bodyPr/>
                    <a:lstStyle/>
                    <a:p>
                      <a:pPr algn="ctr"/>
                      <a:r>
                        <a:rPr lang="en-GB" sz="2000" dirty="0"/>
                        <a:t>Summer between academic years</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000"/>
                        <a:t>Taken </a:t>
                      </a:r>
                      <a:r>
                        <a:rPr lang="en-GB" sz="2000" b="1">
                          <a:solidFill>
                            <a:srgbClr val="CD1953"/>
                          </a:solidFill>
                        </a:rPr>
                        <a:t>after 2nd second year</a:t>
                      </a:r>
                      <a:r>
                        <a:rPr lang="en-GB" sz="2000"/>
                        <a:t> </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2000"/>
                        <a:t>(</a:t>
                      </a:r>
                      <a:r>
                        <a:rPr lang="en-GB" sz="2000" b="1">
                          <a:solidFill>
                            <a:srgbClr val="CD1953"/>
                          </a:solidFill>
                        </a:rPr>
                        <a:t>or 3rd year </a:t>
                      </a:r>
                      <a:r>
                        <a:rPr lang="en-GB" sz="2000"/>
                        <a:t>if on Integrated Masters)</a:t>
                      </a:r>
                      <a:endParaRPr lang="en-US" sz="2000"/>
                    </a:p>
                  </a:txBody>
                  <a:tcPr anchor="ctr"/>
                </a:tc>
                <a:extLst>
                  <a:ext uri="{0D108BD9-81ED-4DB2-BD59-A6C34878D82A}">
                    <a16:rowId xmlns:a16="http://schemas.microsoft.com/office/drawing/2014/main" val="1318465929"/>
                  </a:ext>
                </a:extLst>
              </a:tr>
              <a:tr h="658429">
                <a:tc>
                  <a:txBody>
                    <a:bodyPr/>
                    <a:lstStyle/>
                    <a:p>
                      <a:pPr algn="ctr"/>
                      <a:r>
                        <a:rPr lang="en-GB" sz="2000" b="1"/>
                        <a:t>Type of work:</a:t>
                      </a:r>
                    </a:p>
                  </a:txBody>
                  <a:tcPr anchor="ctr">
                    <a:solidFill>
                      <a:schemeClr val="bg1">
                        <a:lumMod val="95000"/>
                      </a:schemeClr>
                    </a:solidFill>
                  </a:tcPr>
                </a:tc>
                <a:tc>
                  <a:txBody>
                    <a:bodyPr/>
                    <a:lstStyle/>
                    <a:p>
                      <a:pPr algn="ctr"/>
                      <a:r>
                        <a:rPr lang="en-GB" sz="2000"/>
                        <a:t>Any – typically project based</a:t>
                      </a:r>
                    </a:p>
                  </a:txBody>
                  <a:tcPr anchor="ctr"/>
                </a:tc>
                <a:tc>
                  <a:txBody>
                    <a:bodyPr/>
                    <a:lstStyle/>
                    <a:p>
                      <a:pPr algn="ctr"/>
                      <a:r>
                        <a:rPr lang="en-GB" sz="2000" dirty="0"/>
                        <a:t>Degree level, though does </a:t>
                      </a:r>
                      <a:r>
                        <a:rPr lang="en-GB" sz="2000" b="1" dirty="0"/>
                        <a:t>not</a:t>
                      </a:r>
                      <a:r>
                        <a:rPr lang="en-GB" sz="2000" dirty="0"/>
                        <a:t> need to be related to your degree**</a:t>
                      </a:r>
                    </a:p>
                  </a:txBody>
                  <a:tcPr anchor="ctr"/>
                </a:tc>
                <a:extLst>
                  <a:ext uri="{0D108BD9-81ED-4DB2-BD59-A6C34878D82A}">
                    <a16:rowId xmlns:a16="http://schemas.microsoft.com/office/drawing/2014/main" val="3825039562"/>
                  </a:ext>
                </a:extLst>
              </a:tr>
              <a:tr h="658429">
                <a:tc>
                  <a:txBody>
                    <a:bodyPr/>
                    <a:lstStyle/>
                    <a:p>
                      <a:pPr algn="ctr"/>
                      <a:r>
                        <a:rPr lang="en-GB" sz="2000" b="1"/>
                        <a:t>Approval required:</a:t>
                      </a:r>
                    </a:p>
                  </a:txBody>
                  <a:tcPr anchor="ctr">
                    <a:solidFill>
                      <a:schemeClr val="bg1">
                        <a:lumMod val="95000"/>
                      </a:schemeClr>
                    </a:solidFill>
                  </a:tcPr>
                </a:tc>
                <a:tc>
                  <a:txBody>
                    <a:bodyPr/>
                    <a:lstStyle/>
                    <a:p>
                      <a:pPr algn="ctr"/>
                      <a:endParaRPr lang="en-GB"/>
                    </a:p>
                  </a:txBody>
                  <a:tcPr anchor="ctr"/>
                </a:tc>
                <a:tc>
                  <a:txBody>
                    <a:bodyPr/>
                    <a:lstStyle/>
                    <a:p>
                      <a:pPr algn="ctr"/>
                      <a:endParaRPr lang="en-GB"/>
                    </a:p>
                  </a:txBody>
                  <a:tcPr anchor="ctr"/>
                </a:tc>
                <a:extLst>
                  <a:ext uri="{0D108BD9-81ED-4DB2-BD59-A6C34878D82A}">
                    <a16:rowId xmlns:a16="http://schemas.microsoft.com/office/drawing/2014/main" val="1925322388"/>
                  </a:ext>
                </a:extLst>
              </a:tr>
              <a:tr h="91822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000" b="1"/>
                        <a:t>International Students:</a:t>
                      </a:r>
                    </a:p>
                  </a:txBody>
                  <a:tcPr anchor="ctr">
                    <a:solidFill>
                      <a:schemeClr val="bg1">
                        <a:lumMod val="95000"/>
                      </a:schemeClr>
                    </a:solidFill>
                  </a:tcPr>
                </a:tc>
                <a:tc>
                  <a:txBody>
                    <a:bodyPr/>
                    <a:lstStyle/>
                    <a:p>
                      <a:pPr algn="ctr"/>
                      <a:endParaRPr lang="en-GB" dirty="0"/>
                    </a:p>
                  </a:txBody>
                  <a:tcPr anchor="ctr"/>
                </a:tc>
                <a:tc>
                  <a:txBody>
                    <a:bodyPr/>
                    <a:lstStyle/>
                    <a:p>
                      <a:pPr algn="ctr"/>
                      <a:endParaRPr lang="en-GB" dirty="0"/>
                    </a:p>
                  </a:txBody>
                  <a:tcPr anchor="ctr"/>
                </a:tc>
                <a:extLst>
                  <a:ext uri="{0D108BD9-81ED-4DB2-BD59-A6C34878D82A}">
                    <a16:rowId xmlns:a16="http://schemas.microsoft.com/office/drawing/2014/main" val="4281887652"/>
                  </a:ext>
                </a:extLst>
              </a:tr>
            </a:tbl>
          </a:graphicData>
        </a:graphic>
      </p:graphicFrame>
      <p:pic>
        <p:nvPicPr>
          <p:cNvPr id="5" name="Graphic 4" descr="Badge Cross with solid fill">
            <a:extLst>
              <a:ext uri="{FF2B5EF4-FFF2-40B4-BE49-F238E27FC236}">
                <a16:creationId xmlns:a16="http://schemas.microsoft.com/office/drawing/2014/main" id="{54308951-A684-6931-232D-523528C7C5A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62437" y="4749301"/>
            <a:ext cx="504000" cy="504000"/>
          </a:xfrm>
          <a:prstGeom prst="rect">
            <a:avLst/>
          </a:prstGeom>
        </p:spPr>
      </p:pic>
      <p:pic>
        <p:nvPicPr>
          <p:cNvPr id="7" name="Graphic 6" descr="Badge Tick1 with solid fill">
            <a:extLst>
              <a:ext uri="{FF2B5EF4-FFF2-40B4-BE49-F238E27FC236}">
                <a16:creationId xmlns:a16="http://schemas.microsoft.com/office/drawing/2014/main" id="{C68FE262-E546-7904-0920-9595DFF37DF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094567" y="1943376"/>
            <a:ext cx="504000" cy="504000"/>
          </a:xfrm>
          <a:prstGeom prst="rect">
            <a:avLst/>
          </a:prstGeom>
        </p:spPr>
      </p:pic>
      <p:pic>
        <p:nvPicPr>
          <p:cNvPr id="8" name="Graphic 7" descr="Badge Tick1 with solid fill">
            <a:extLst>
              <a:ext uri="{FF2B5EF4-FFF2-40B4-BE49-F238E27FC236}">
                <a16:creationId xmlns:a16="http://schemas.microsoft.com/office/drawing/2014/main" id="{5433D1A4-13C8-9E61-761E-76DF3276452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229522" y="1880691"/>
            <a:ext cx="504000" cy="504000"/>
          </a:xfrm>
          <a:prstGeom prst="rect">
            <a:avLst/>
          </a:prstGeom>
        </p:spPr>
      </p:pic>
      <p:pic>
        <p:nvPicPr>
          <p:cNvPr id="9" name="Graphic 8" descr="Badge Tick1 with solid fill">
            <a:extLst>
              <a:ext uri="{FF2B5EF4-FFF2-40B4-BE49-F238E27FC236}">
                <a16:creationId xmlns:a16="http://schemas.microsoft.com/office/drawing/2014/main" id="{DB72B246-6F5C-DC10-FD85-7FF2DB3F66C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058262" y="5611576"/>
            <a:ext cx="504000" cy="504000"/>
          </a:xfrm>
          <a:prstGeom prst="rect">
            <a:avLst/>
          </a:prstGeom>
        </p:spPr>
      </p:pic>
      <p:pic>
        <p:nvPicPr>
          <p:cNvPr id="10" name="Graphic 9" descr="Badge Tick1 with solid fill">
            <a:extLst>
              <a:ext uri="{FF2B5EF4-FFF2-40B4-BE49-F238E27FC236}">
                <a16:creationId xmlns:a16="http://schemas.microsoft.com/office/drawing/2014/main" id="{6966A5EF-5FE1-59A6-ABBC-485B55CB442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152403" y="4749301"/>
            <a:ext cx="504000" cy="504000"/>
          </a:xfrm>
          <a:prstGeom prst="rect">
            <a:avLst/>
          </a:prstGeom>
        </p:spPr>
      </p:pic>
      <p:pic>
        <p:nvPicPr>
          <p:cNvPr id="14" name="Graphic 13" descr="Badge Question Mark with solid fill">
            <a:extLst>
              <a:ext uri="{FF2B5EF4-FFF2-40B4-BE49-F238E27FC236}">
                <a16:creationId xmlns:a16="http://schemas.microsoft.com/office/drawing/2014/main" id="{47015DF3-CF65-F687-1D45-BE0DF97E46E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30819" y="1249380"/>
            <a:ext cx="540000" cy="540000"/>
          </a:xfrm>
          <a:prstGeom prst="rect">
            <a:avLst/>
          </a:prstGeom>
        </p:spPr>
      </p:pic>
      <p:pic>
        <p:nvPicPr>
          <p:cNvPr id="15" name="Graphic 14" descr="Badge Tick1 with solid fill">
            <a:extLst>
              <a:ext uri="{FF2B5EF4-FFF2-40B4-BE49-F238E27FC236}">
                <a16:creationId xmlns:a16="http://schemas.microsoft.com/office/drawing/2014/main" id="{C1547E59-3FEE-E980-BD52-39E920254C7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170436" y="5611576"/>
            <a:ext cx="504000" cy="504000"/>
          </a:xfrm>
          <a:prstGeom prst="rect">
            <a:avLst/>
          </a:prstGeom>
        </p:spPr>
      </p:pic>
    </p:spTree>
    <p:extLst>
      <p:ext uri="{BB962C8B-B14F-4D97-AF65-F5344CB8AC3E}">
        <p14:creationId xmlns:p14="http://schemas.microsoft.com/office/powerpoint/2010/main" val="32248216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35A68-1A23-F940-6DE4-88B9EDF93105}"/>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0979DA12-4740-60F2-3DC8-A98B42D630D8}"/>
              </a:ext>
            </a:extLst>
          </p:cNvPr>
          <p:cNvSpPr>
            <a:spLocks noGrp="1"/>
          </p:cNvSpPr>
          <p:nvPr>
            <p:ph type="body" sz="quarter" idx="13"/>
          </p:nvPr>
        </p:nvSpPr>
        <p:spPr/>
        <p:txBody>
          <a:bodyPr/>
          <a:lstStyle/>
          <a:p>
            <a:r>
              <a:rPr lang="en-GB"/>
              <a:t>Activity: Sign into </a:t>
            </a:r>
            <a:r>
              <a:rPr lang="en-GB" err="1"/>
              <a:t>MyCareer</a:t>
            </a:r>
            <a:endParaRPr lang="en-GB"/>
          </a:p>
        </p:txBody>
      </p:sp>
      <p:grpSp>
        <p:nvGrpSpPr>
          <p:cNvPr id="6" name="Group 5">
            <a:extLst>
              <a:ext uri="{FF2B5EF4-FFF2-40B4-BE49-F238E27FC236}">
                <a16:creationId xmlns:a16="http://schemas.microsoft.com/office/drawing/2014/main" id="{43B0C170-11AB-DC79-E057-13D2EE87BA3D}"/>
              </a:ext>
            </a:extLst>
          </p:cNvPr>
          <p:cNvGrpSpPr/>
          <p:nvPr/>
        </p:nvGrpSpPr>
        <p:grpSpPr>
          <a:xfrm>
            <a:off x="1200808" y="5284888"/>
            <a:ext cx="8184136" cy="1462651"/>
            <a:chOff x="-342323" y="4890609"/>
            <a:chExt cx="6562990" cy="1662615"/>
          </a:xfrm>
        </p:grpSpPr>
        <p:sp>
          <p:nvSpPr>
            <p:cNvPr id="7" name="Curved Up Arrow 18">
              <a:extLst>
                <a:ext uri="{FF2B5EF4-FFF2-40B4-BE49-F238E27FC236}">
                  <a16:creationId xmlns:a16="http://schemas.microsoft.com/office/drawing/2014/main" id="{D707DC96-1642-2A03-2CDD-251F78F3504C}"/>
                </a:ext>
              </a:extLst>
            </p:cNvPr>
            <p:cNvSpPr/>
            <p:nvPr/>
          </p:nvSpPr>
          <p:spPr>
            <a:xfrm rot="19408789">
              <a:off x="4937363" y="4890609"/>
              <a:ext cx="1283304" cy="765379"/>
            </a:xfrm>
            <a:prstGeom prst="curvedUpArrow">
              <a:avLst/>
            </a:prstGeom>
            <a:solidFill>
              <a:srgbClr val="CD19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8" name="Flowchart: Alternate Process 7">
              <a:extLst>
                <a:ext uri="{FF2B5EF4-FFF2-40B4-BE49-F238E27FC236}">
                  <a16:creationId xmlns:a16="http://schemas.microsoft.com/office/drawing/2014/main" id="{D952D939-1658-9AD1-020B-EE826475BA25}"/>
                </a:ext>
              </a:extLst>
            </p:cNvPr>
            <p:cNvSpPr/>
            <p:nvPr/>
          </p:nvSpPr>
          <p:spPr>
            <a:xfrm>
              <a:off x="-342323" y="4995452"/>
              <a:ext cx="5172930" cy="1557772"/>
            </a:xfrm>
            <a:prstGeom prst="flowChartAlternateProcess">
              <a:avLst/>
            </a:prstGeom>
            <a:solidFill>
              <a:srgbClr val="CD1953"/>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b="1">
                  <a:latin typeface="Arial"/>
                  <a:cs typeface="Arial"/>
                </a:rPr>
                <a:t>Once you are signed in, what services and resources on </a:t>
              </a:r>
              <a:r>
                <a:rPr lang="en-GB" b="1" err="1">
                  <a:latin typeface="Arial"/>
                  <a:cs typeface="Arial"/>
                </a:rPr>
                <a:t>MyCareer</a:t>
              </a:r>
              <a:r>
                <a:rPr lang="en-GB" b="1">
                  <a:latin typeface="Arial"/>
                  <a:cs typeface="Arial"/>
                </a:rPr>
                <a:t> will be useful to you? </a:t>
              </a:r>
            </a:p>
          </p:txBody>
        </p:sp>
      </p:grpSp>
      <p:pic>
        <p:nvPicPr>
          <p:cNvPr id="9" name="Picture 8">
            <a:extLst>
              <a:ext uri="{FF2B5EF4-FFF2-40B4-BE49-F238E27FC236}">
                <a16:creationId xmlns:a16="http://schemas.microsoft.com/office/drawing/2014/main" id="{28FA829B-8BDE-5BDD-1488-BCAA9689607C}"/>
              </a:ext>
            </a:extLst>
          </p:cNvPr>
          <p:cNvPicPr>
            <a:picLocks noChangeAspect="1"/>
          </p:cNvPicPr>
          <p:nvPr/>
        </p:nvPicPr>
        <p:blipFill>
          <a:blip r:embed="rId3"/>
          <a:stretch>
            <a:fillRect/>
          </a:stretch>
        </p:blipFill>
        <p:spPr>
          <a:xfrm>
            <a:off x="5949904" y="2153755"/>
            <a:ext cx="5459900" cy="2469913"/>
          </a:xfrm>
          <a:prstGeom prst="rect">
            <a:avLst/>
          </a:prstGeom>
        </p:spPr>
      </p:pic>
      <p:pic>
        <p:nvPicPr>
          <p:cNvPr id="3" name="Picture 2" descr="A qr code with black squares&#10;&#10;AI-generated content may be incorrect.">
            <a:extLst>
              <a:ext uri="{FF2B5EF4-FFF2-40B4-BE49-F238E27FC236}">
                <a16:creationId xmlns:a16="http://schemas.microsoft.com/office/drawing/2014/main" id="{AD7F8CA9-42AC-315A-9BA5-D5C084EE5E72}"/>
              </a:ext>
            </a:extLst>
          </p:cNvPr>
          <p:cNvPicPr>
            <a:picLocks noChangeAspect="1"/>
          </p:cNvPicPr>
          <p:nvPr/>
        </p:nvPicPr>
        <p:blipFill>
          <a:blip r:embed="rId4"/>
          <a:stretch>
            <a:fillRect/>
          </a:stretch>
        </p:blipFill>
        <p:spPr>
          <a:xfrm>
            <a:off x="1504951" y="1652095"/>
            <a:ext cx="3079098" cy="3100804"/>
          </a:xfrm>
          <a:prstGeom prst="rect">
            <a:avLst/>
          </a:prstGeom>
          <a:ln w="57150">
            <a:solidFill>
              <a:srgbClr val="1C8589"/>
            </a:solidFill>
          </a:ln>
        </p:spPr>
      </p:pic>
    </p:spTree>
    <p:extLst>
      <p:ext uri="{BB962C8B-B14F-4D97-AF65-F5344CB8AC3E}">
        <p14:creationId xmlns:p14="http://schemas.microsoft.com/office/powerpoint/2010/main" val="31251761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81DC39D-43D3-A641-13A1-E2B6308B7A5D}"/>
              </a:ext>
            </a:extLst>
          </p:cNvPr>
          <p:cNvSpPr/>
          <p:nvPr/>
        </p:nvSpPr>
        <p:spPr>
          <a:xfrm>
            <a:off x="198538" y="1189740"/>
            <a:ext cx="11748938" cy="5177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C2CB06DC-73CD-0B1E-119A-BDFA578535B7}"/>
              </a:ext>
            </a:extLst>
          </p:cNvPr>
          <p:cNvSpPr>
            <a:spLocks noGrp="1"/>
          </p:cNvSpPr>
          <p:nvPr>
            <p:ph type="title"/>
          </p:nvPr>
        </p:nvSpPr>
        <p:spPr>
          <a:xfrm>
            <a:off x="311498" y="100392"/>
            <a:ext cx="2575093" cy="1083109"/>
          </a:xfrm>
          <a:noFill/>
        </p:spPr>
        <p:txBody>
          <a:bodyPr>
            <a:noAutofit/>
          </a:bodyPr>
          <a:lstStyle/>
          <a:p>
            <a:pPr algn="ctr"/>
            <a:r>
              <a:rPr lang="en-GB" sz="2400" b="1" u="sng">
                <a:solidFill>
                  <a:srgbClr val="1C8589"/>
                </a:solidFill>
                <a:latin typeface="+mn-lt"/>
                <a:ea typeface="+mn-ea"/>
                <a:cs typeface="+mn-cs"/>
                <a:hlinkClick r:id="rId3">
                  <a:extLst>
                    <a:ext uri="{A12FA001-AC4F-418D-AE19-62706E023703}">
                      <ahyp:hlinkClr xmlns:ahyp="http://schemas.microsoft.com/office/drawing/2018/hyperlinkcolor" val="tx"/>
                    </a:ext>
                  </a:extLst>
                </a:hlinkClick>
              </a:rPr>
              <a:t>MyCareer.</a:t>
            </a:r>
            <a:br>
              <a:rPr lang="en-GB" sz="2400" b="1" u="sng">
                <a:solidFill>
                  <a:srgbClr val="1C8589"/>
                </a:solidFill>
                <a:latin typeface="+mn-lt"/>
                <a:ea typeface="Calibri"/>
                <a:cs typeface="Calibri"/>
                <a:hlinkClick r:id="rId3">
                  <a:extLst>
                    <a:ext uri="{A12FA001-AC4F-418D-AE19-62706E023703}">
                      <ahyp:hlinkClr xmlns:ahyp="http://schemas.microsoft.com/office/drawing/2018/hyperlinkcolor" val="tx"/>
                    </a:ext>
                  </a:extLst>
                </a:hlinkClick>
              </a:rPr>
            </a:br>
            <a:r>
              <a:rPr lang="en-GB" sz="2400" b="1" u="sng">
                <a:solidFill>
                  <a:srgbClr val="1C8589"/>
                </a:solidFill>
                <a:latin typeface="+mn-lt"/>
                <a:ea typeface="Calibri"/>
                <a:cs typeface="Calibri"/>
                <a:hlinkClick r:id="rId3">
                  <a:extLst>
                    <a:ext uri="{A12FA001-AC4F-418D-AE19-62706E023703}">
                      <ahyp:hlinkClr xmlns:ahyp="http://schemas.microsoft.com/office/drawing/2018/hyperlinkcolor" val="tx"/>
                    </a:ext>
                  </a:extLst>
                </a:hlinkClick>
              </a:rPr>
              <a:t>leeds.ac.uk</a:t>
            </a:r>
          </a:p>
        </p:txBody>
      </p:sp>
      <p:pic>
        <p:nvPicPr>
          <p:cNvPr id="4" name="Picture 3" descr="A screenshot of a search engine&#10;&#10;AI-generated content may be incorrect.">
            <a:extLst>
              <a:ext uri="{FF2B5EF4-FFF2-40B4-BE49-F238E27FC236}">
                <a16:creationId xmlns:a16="http://schemas.microsoft.com/office/drawing/2014/main" id="{FC03FEE6-09E9-5EBC-798F-B5E8957C889B}"/>
              </a:ext>
            </a:extLst>
          </p:cNvPr>
          <p:cNvPicPr>
            <a:picLocks noChangeAspect="1"/>
          </p:cNvPicPr>
          <p:nvPr/>
        </p:nvPicPr>
        <p:blipFill>
          <a:blip r:embed="rId4"/>
          <a:srcRect l="17845" t="541" r="18308" b="-1081"/>
          <a:stretch/>
        </p:blipFill>
        <p:spPr>
          <a:xfrm>
            <a:off x="2045597" y="1338974"/>
            <a:ext cx="7784314" cy="5246099"/>
          </a:xfrm>
          <a:prstGeom prst="rect">
            <a:avLst/>
          </a:prstGeom>
          <a:ln w="57150">
            <a:solidFill>
              <a:srgbClr val="1C8589"/>
            </a:solidFill>
          </a:ln>
        </p:spPr>
      </p:pic>
      <p:pic>
        <p:nvPicPr>
          <p:cNvPr id="5" name="Picture 4" descr="A screenshot of a phone&#10;&#10;AI-generated content may be incorrect.">
            <a:extLst>
              <a:ext uri="{FF2B5EF4-FFF2-40B4-BE49-F238E27FC236}">
                <a16:creationId xmlns:a16="http://schemas.microsoft.com/office/drawing/2014/main" id="{1BC36A59-B829-B981-F8E3-E3F52B8C7507}"/>
              </a:ext>
            </a:extLst>
          </p:cNvPr>
          <p:cNvPicPr>
            <a:picLocks noChangeAspect="1"/>
          </p:cNvPicPr>
          <p:nvPr/>
        </p:nvPicPr>
        <p:blipFill>
          <a:blip r:embed="rId5"/>
          <a:stretch>
            <a:fillRect/>
          </a:stretch>
        </p:blipFill>
        <p:spPr>
          <a:xfrm>
            <a:off x="9004534" y="2221796"/>
            <a:ext cx="2877103" cy="4486457"/>
          </a:xfrm>
          <a:prstGeom prst="rect">
            <a:avLst/>
          </a:prstGeom>
          <a:ln w="57150">
            <a:solidFill>
              <a:srgbClr val="CB1953"/>
            </a:solidFill>
          </a:ln>
          <a:effectLst>
            <a:outerShdw blurRad="292100" dist="139700" dir="2700000" algn="tl" rotWithShape="0">
              <a:srgbClr val="333333">
                <a:alpha val="65000"/>
              </a:srgbClr>
            </a:outerShdw>
          </a:effectLst>
        </p:spPr>
      </p:pic>
      <p:cxnSp>
        <p:nvCxnSpPr>
          <p:cNvPr id="6" name="Straight Arrow Connector 5">
            <a:extLst>
              <a:ext uri="{FF2B5EF4-FFF2-40B4-BE49-F238E27FC236}">
                <a16:creationId xmlns:a16="http://schemas.microsoft.com/office/drawing/2014/main" id="{147F381F-ABD4-8978-E233-B759D316FC62}"/>
              </a:ext>
            </a:extLst>
          </p:cNvPr>
          <p:cNvCxnSpPr/>
          <p:nvPr/>
        </p:nvCxnSpPr>
        <p:spPr>
          <a:xfrm flipH="1" flipV="1">
            <a:off x="9433915" y="1496140"/>
            <a:ext cx="1300429" cy="671157"/>
          </a:xfrm>
          <a:prstGeom prst="straightConnector1">
            <a:avLst/>
          </a:prstGeom>
          <a:ln w="57150">
            <a:solidFill>
              <a:srgbClr val="CB1953"/>
            </a:solidFill>
            <a:tailEnd type="triangle"/>
          </a:ln>
        </p:spPr>
        <p:style>
          <a:lnRef idx="3">
            <a:schemeClr val="dk1"/>
          </a:lnRef>
          <a:fillRef idx="0">
            <a:schemeClr val="dk1"/>
          </a:fillRef>
          <a:effectRef idx="2">
            <a:schemeClr val="dk1"/>
          </a:effectRef>
          <a:fontRef idx="minor">
            <a:schemeClr val="tx1"/>
          </a:fontRef>
        </p:style>
      </p:cxnSp>
      <p:sp>
        <p:nvSpPr>
          <p:cNvPr id="9" name="Rectangle: Rounded Corners 8">
            <a:extLst>
              <a:ext uri="{FF2B5EF4-FFF2-40B4-BE49-F238E27FC236}">
                <a16:creationId xmlns:a16="http://schemas.microsoft.com/office/drawing/2014/main" id="{5CC8DC73-D70E-25CC-F0C2-25965A01EE37}"/>
              </a:ext>
            </a:extLst>
          </p:cNvPr>
          <p:cNvSpPr/>
          <p:nvPr/>
        </p:nvSpPr>
        <p:spPr>
          <a:xfrm>
            <a:off x="7315226" y="115936"/>
            <a:ext cx="1821211" cy="1071300"/>
          </a:xfrm>
          <a:prstGeom prst="round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b="1">
                <a:ea typeface="Calibri"/>
                <a:cs typeface="Calibri"/>
              </a:rPr>
              <a:t>Update your profile and preferences</a:t>
            </a:r>
          </a:p>
        </p:txBody>
      </p:sp>
      <p:cxnSp>
        <p:nvCxnSpPr>
          <p:cNvPr id="10" name="Straight Arrow Connector 9">
            <a:extLst>
              <a:ext uri="{FF2B5EF4-FFF2-40B4-BE49-F238E27FC236}">
                <a16:creationId xmlns:a16="http://schemas.microsoft.com/office/drawing/2014/main" id="{8044A92D-30F9-BB6C-8595-19B3266BBEED}"/>
              </a:ext>
            </a:extLst>
          </p:cNvPr>
          <p:cNvCxnSpPr>
            <a:cxnSpLocks/>
          </p:cNvCxnSpPr>
          <p:nvPr/>
        </p:nvCxnSpPr>
        <p:spPr>
          <a:xfrm>
            <a:off x="8101621" y="1107640"/>
            <a:ext cx="521225" cy="436122"/>
          </a:xfrm>
          <a:prstGeom prst="straightConnector1">
            <a:avLst/>
          </a:prstGeom>
          <a:ln w="57150">
            <a:solidFill>
              <a:srgbClr val="002060"/>
            </a:solidFill>
            <a:tailEnd type="triangle"/>
          </a:ln>
        </p:spPr>
        <p:style>
          <a:lnRef idx="3">
            <a:schemeClr val="dk1"/>
          </a:lnRef>
          <a:fillRef idx="0">
            <a:schemeClr val="dk1"/>
          </a:fillRef>
          <a:effectRef idx="2">
            <a:schemeClr val="dk1"/>
          </a:effectRef>
          <a:fontRef idx="minor">
            <a:schemeClr val="tx1"/>
          </a:fontRef>
        </p:style>
      </p:cxnSp>
      <p:cxnSp>
        <p:nvCxnSpPr>
          <p:cNvPr id="11" name="Straight Arrow Connector 10">
            <a:extLst>
              <a:ext uri="{FF2B5EF4-FFF2-40B4-BE49-F238E27FC236}">
                <a16:creationId xmlns:a16="http://schemas.microsoft.com/office/drawing/2014/main" id="{207925F5-A92F-C86C-F146-2067729BAA58}"/>
              </a:ext>
            </a:extLst>
          </p:cNvPr>
          <p:cNvCxnSpPr>
            <a:cxnSpLocks/>
          </p:cNvCxnSpPr>
          <p:nvPr/>
        </p:nvCxnSpPr>
        <p:spPr>
          <a:xfrm>
            <a:off x="6244243" y="1049553"/>
            <a:ext cx="1473728" cy="1662465"/>
          </a:xfrm>
          <a:prstGeom prst="straightConnector1">
            <a:avLst/>
          </a:prstGeom>
          <a:ln w="57150">
            <a:solidFill>
              <a:srgbClr val="002060"/>
            </a:solidFill>
            <a:tailEnd type="triangle"/>
          </a:ln>
        </p:spPr>
        <p:style>
          <a:lnRef idx="3">
            <a:schemeClr val="dk1"/>
          </a:lnRef>
          <a:fillRef idx="0">
            <a:schemeClr val="dk1"/>
          </a:fillRef>
          <a:effectRef idx="2">
            <a:schemeClr val="dk1"/>
          </a:effectRef>
          <a:fontRef idx="minor">
            <a:schemeClr val="tx1"/>
          </a:fontRef>
        </p:style>
      </p:cxnSp>
      <p:sp>
        <p:nvSpPr>
          <p:cNvPr id="12" name="Rectangle: Rounded Corners 11">
            <a:extLst>
              <a:ext uri="{FF2B5EF4-FFF2-40B4-BE49-F238E27FC236}">
                <a16:creationId xmlns:a16="http://schemas.microsoft.com/office/drawing/2014/main" id="{713E8D68-190D-558E-478F-6B0B5B498EB2}"/>
              </a:ext>
            </a:extLst>
          </p:cNvPr>
          <p:cNvSpPr/>
          <p:nvPr/>
        </p:nvSpPr>
        <p:spPr>
          <a:xfrm>
            <a:off x="5148287" y="115936"/>
            <a:ext cx="1821211" cy="1071300"/>
          </a:xfrm>
          <a:prstGeom prst="round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b="1">
                <a:ea typeface="Calibri"/>
                <a:cs typeface="Calibri"/>
              </a:rPr>
              <a:t>Read articles related to your sector</a:t>
            </a:r>
            <a:endParaRPr lang="en-US"/>
          </a:p>
        </p:txBody>
      </p:sp>
      <p:sp>
        <p:nvSpPr>
          <p:cNvPr id="13" name="Rectangle: Rounded Corners 12">
            <a:extLst>
              <a:ext uri="{FF2B5EF4-FFF2-40B4-BE49-F238E27FC236}">
                <a16:creationId xmlns:a16="http://schemas.microsoft.com/office/drawing/2014/main" id="{8AC1C53D-7E46-2C3F-F34C-FA4755A0C226}"/>
              </a:ext>
            </a:extLst>
          </p:cNvPr>
          <p:cNvSpPr/>
          <p:nvPr/>
        </p:nvSpPr>
        <p:spPr>
          <a:xfrm>
            <a:off x="10446569" y="1235123"/>
            <a:ext cx="1499742" cy="928426"/>
          </a:xfrm>
          <a:prstGeom prst="roundRect">
            <a:avLst/>
          </a:prstGeom>
          <a:solidFill>
            <a:srgbClr val="CB1953"/>
          </a:solidFill>
          <a:ln>
            <a:solidFill>
              <a:srgbClr val="CB1953"/>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b="1">
                <a:ea typeface="Calibri"/>
                <a:cs typeface="Calibri"/>
              </a:rPr>
              <a:t>Access online resources</a:t>
            </a:r>
            <a:endParaRPr lang="en-US"/>
          </a:p>
        </p:txBody>
      </p:sp>
      <p:sp>
        <p:nvSpPr>
          <p:cNvPr id="14" name="Rectangle: Rounded Corners 13">
            <a:extLst>
              <a:ext uri="{FF2B5EF4-FFF2-40B4-BE49-F238E27FC236}">
                <a16:creationId xmlns:a16="http://schemas.microsoft.com/office/drawing/2014/main" id="{8CD08A9D-2A72-C690-DFF5-A59450AF924A}"/>
              </a:ext>
            </a:extLst>
          </p:cNvPr>
          <p:cNvSpPr/>
          <p:nvPr/>
        </p:nvSpPr>
        <p:spPr>
          <a:xfrm>
            <a:off x="3052787" y="115936"/>
            <a:ext cx="1821211" cy="1071300"/>
          </a:xfrm>
          <a:prstGeom prst="round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b="1">
                <a:ea typeface="Calibri"/>
                <a:cs typeface="Calibri"/>
              </a:rPr>
              <a:t>Book 1:1 appointments</a:t>
            </a:r>
            <a:endParaRPr lang="en-US"/>
          </a:p>
        </p:txBody>
      </p:sp>
      <p:cxnSp>
        <p:nvCxnSpPr>
          <p:cNvPr id="15" name="Straight Arrow Connector 14">
            <a:extLst>
              <a:ext uri="{FF2B5EF4-FFF2-40B4-BE49-F238E27FC236}">
                <a16:creationId xmlns:a16="http://schemas.microsoft.com/office/drawing/2014/main" id="{5524FE48-DF5E-0C5A-D1EE-69EC4646B5E9}"/>
              </a:ext>
            </a:extLst>
          </p:cNvPr>
          <p:cNvCxnSpPr>
            <a:cxnSpLocks/>
          </p:cNvCxnSpPr>
          <p:nvPr/>
        </p:nvCxnSpPr>
        <p:spPr>
          <a:xfrm>
            <a:off x="4133228" y="1049553"/>
            <a:ext cx="1473728" cy="1662465"/>
          </a:xfrm>
          <a:prstGeom prst="straightConnector1">
            <a:avLst/>
          </a:prstGeom>
          <a:ln w="57150">
            <a:solidFill>
              <a:srgbClr val="002060"/>
            </a:solidFill>
            <a:tailEnd type="triangle"/>
          </a:ln>
        </p:spPr>
        <p:style>
          <a:lnRef idx="3">
            <a:schemeClr val="dk1"/>
          </a:lnRef>
          <a:fillRef idx="0">
            <a:schemeClr val="dk1"/>
          </a:fillRef>
          <a:effectRef idx="2">
            <a:schemeClr val="dk1"/>
          </a:effectRef>
          <a:fontRef idx="minor">
            <a:schemeClr val="tx1"/>
          </a:fontRef>
        </p:style>
      </p:cxnSp>
      <p:sp>
        <p:nvSpPr>
          <p:cNvPr id="7" name="Rectangle: Rounded Corners 6">
            <a:extLst>
              <a:ext uri="{FF2B5EF4-FFF2-40B4-BE49-F238E27FC236}">
                <a16:creationId xmlns:a16="http://schemas.microsoft.com/office/drawing/2014/main" id="{56349954-B37D-3CD1-27A4-F4E1292E9A10}"/>
              </a:ext>
            </a:extLst>
          </p:cNvPr>
          <p:cNvSpPr/>
          <p:nvPr/>
        </p:nvSpPr>
        <p:spPr>
          <a:xfrm>
            <a:off x="108695" y="1593753"/>
            <a:ext cx="1821211" cy="1071300"/>
          </a:xfrm>
          <a:prstGeom prst="round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600" b="1">
                <a:ea typeface="Calibri"/>
                <a:cs typeface="Calibri"/>
              </a:rPr>
              <a:t>Find Grad roles, Placements and Internships</a:t>
            </a:r>
            <a:endParaRPr lang="en-GB" sz="1600">
              <a:solidFill>
                <a:srgbClr val="000000"/>
              </a:solidFill>
              <a:ea typeface="Calibri"/>
              <a:cs typeface="Calibri"/>
            </a:endParaRPr>
          </a:p>
        </p:txBody>
      </p:sp>
      <p:sp>
        <p:nvSpPr>
          <p:cNvPr id="3" name="Rectangle: Rounded Corners 2">
            <a:extLst>
              <a:ext uri="{FF2B5EF4-FFF2-40B4-BE49-F238E27FC236}">
                <a16:creationId xmlns:a16="http://schemas.microsoft.com/office/drawing/2014/main" id="{675FD4B0-BF20-22FC-2574-83CA85BB8CED}"/>
              </a:ext>
            </a:extLst>
          </p:cNvPr>
          <p:cNvSpPr/>
          <p:nvPr/>
        </p:nvSpPr>
        <p:spPr>
          <a:xfrm>
            <a:off x="108695" y="3187025"/>
            <a:ext cx="1821211" cy="1211490"/>
          </a:xfrm>
          <a:prstGeom prst="round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600" b="1">
                <a:ea typeface="Calibri"/>
                <a:cs typeface="Calibri"/>
              </a:rPr>
              <a:t>Sign up to </a:t>
            </a:r>
            <a:endParaRPr lang="en-GB" sz="1600" i="1">
              <a:solidFill>
                <a:srgbClr val="000000"/>
              </a:solidFill>
              <a:ea typeface="Calibri"/>
              <a:cs typeface="Calibri"/>
            </a:endParaRPr>
          </a:p>
          <a:p>
            <a:pPr algn="ctr"/>
            <a:r>
              <a:rPr lang="en-GB" sz="1600" b="1" i="1">
                <a:ea typeface="Calibri"/>
                <a:cs typeface="Calibri"/>
              </a:rPr>
              <a:t>EPS Exclusive Opportunities Scheme</a:t>
            </a:r>
            <a:endParaRPr lang="en-GB" sz="1600" i="1">
              <a:solidFill>
                <a:srgbClr val="000000"/>
              </a:solidFill>
              <a:ea typeface="Calibri"/>
              <a:cs typeface="Calibri"/>
            </a:endParaRPr>
          </a:p>
        </p:txBody>
      </p:sp>
      <p:sp>
        <p:nvSpPr>
          <p:cNvPr id="16" name="Rectangle: Rounded Corners 15">
            <a:extLst>
              <a:ext uri="{FF2B5EF4-FFF2-40B4-BE49-F238E27FC236}">
                <a16:creationId xmlns:a16="http://schemas.microsoft.com/office/drawing/2014/main" id="{C2574622-CB35-B3C9-0B7C-4785BDBC7A22}"/>
              </a:ext>
            </a:extLst>
          </p:cNvPr>
          <p:cNvSpPr/>
          <p:nvPr/>
        </p:nvSpPr>
        <p:spPr>
          <a:xfrm>
            <a:off x="108695" y="4872661"/>
            <a:ext cx="1821211" cy="1071300"/>
          </a:xfrm>
          <a:prstGeom prst="round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b="1">
                <a:ea typeface="Calibri"/>
                <a:cs typeface="Calibri"/>
              </a:rPr>
              <a:t>Search &amp; book onto Events</a:t>
            </a:r>
            <a:endParaRPr lang="en-US"/>
          </a:p>
        </p:txBody>
      </p:sp>
      <p:cxnSp>
        <p:nvCxnSpPr>
          <p:cNvPr id="17" name="Straight Arrow Connector 16">
            <a:extLst>
              <a:ext uri="{FF2B5EF4-FFF2-40B4-BE49-F238E27FC236}">
                <a16:creationId xmlns:a16="http://schemas.microsoft.com/office/drawing/2014/main" id="{9EB956B3-D395-7406-E914-758B33543C51}"/>
              </a:ext>
            </a:extLst>
          </p:cNvPr>
          <p:cNvCxnSpPr>
            <a:cxnSpLocks/>
          </p:cNvCxnSpPr>
          <p:nvPr/>
        </p:nvCxnSpPr>
        <p:spPr>
          <a:xfrm flipV="1">
            <a:off x="1743319" y="4212927"/>
            <a:ext cx="781001" cy="1131534"/>
          </a:xfrm>
          <a:prstGeom prst="straightConnector1">
            <a:avLst/>
          </a:prstGeom>
          <a:ln w="57150">
            <a:solidFill>
              <a:srgbClr val="002060"/>
            </a:solidFill>
            <a:tailEnd type="triangle"/>
          </a:ln>
        </p:spPr>
        <p:style>
          <a:lnRef idx="3">
            <a:schemeClr val="dk1"/>
          </a:lnRef>
          <a:fillRef idx="0">
            <a:schemeClr val="dk1"/>
          </a:fillRef>
          <a:effectRef idx="2">
            <a:schemeClr val="dk1"/>
          </a:effectRef>
          <a:fontRef idx="minor">
            <a:schemeClr val="tx1"/>
          </a:fontRef>
        </p:style>
      </p:cxnSp>
      <p:cxnSp>
        <p:nvCxnSpPr>
          <p:cNvPr id="18" name="Straight Arrow Connector 17">
            <a:extLst>
              <a:ext uri="{FF2B5EF4-FFF2-40B4-BE49-F238E27FC236}">
                <a16:creationId xmlns:a16="http://schemas.microsoft.com/office/drawing/2014/main" id="{30C568C1-F9B5-D627-DD50-9C16D703FF73}"/>
              </a:ext>
            </a:extLst>
          </p:cNvPr>
          <p:cNvCxnSpPr>
            <a:cxnSpLocks/>
          </p:cNvCxnSpPr>
          <p:nvPr/>
        </p:nvCxnSpPr>
        <p:spPr>
          <a:xfrm flipV="1">
            <a:off x="1754864" y="3704925"/>
            <a:ext cx="757907" cy="11627"/>
          </a:xfrm>
          <a:prstGeom prst="straightConnector1">
            <a:avLst/>
          </a:prstGeom>
          <a:ln w="57150">
            <a:solidFill>
              <a:srgbClr val="002060"/>
            </a:solidFill>
            <a:tailEnd type="triangle"/>
          </a:ln>
        </p:spPr>
        <p:style>
          <a:lnRef idx="3">
            <a:schemeClr val="dk1"/>
          </a:lnRef>
          <a:fillRef idx="0">
            <a:schemeClr val="dk1"/>
          </a:fillRef>
          <a:effectRef idx="2">
            <a:schemeClr val="dk1"/>
          </a:effectRef>
          <a:fontRef idx="minor">
            <a:schemeClr val="tx1"/>
          </a:fontRef>
        </p:style>
      </p:cxnSp>
      <p:cxnSp>
        <p:nvCxnSpPr>
          <p:cNvPr id="19" name="Straight Arrow Connector 18">
            <a:extLst>
              <a:ext uri="{FF2B5EF4-FFF2-40B4-BE49-F238E27FC236}">
                <a16:creationId xmlns:a16="http://schemas.microsoft.com/office/drawing/2014/main" id="{F2853756-5F6B-AF19-97F7-2D69FEC987CD}"/>
              </a:ext>
            </a:extLst>
          </p:cNvPr>
          <p:cNvCxnSpPr>
            <a:cxnSpLocks/>
          </p:cNvCxnSpPr>
          <p:nvPr/>
        </p:nvCxnSpPr>
        <p:spPr>
          <a:xfrm>
            <a:off x="1627864" y="2631279"/>
            <a:ext cx="919546" cy="507920"/>
          </a:xfrm>
          <a:prstGeom prst="straightConnector1">
            <a:avLst/>
          </a:prstGeom>
          <a:ln w="57150">
            <a:solidFill>
              <a:srgbClr val="002060"/>
            </a:solidFill>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0704949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88D88C1C-BF95-92EE-017A-CAFB528A1F99}"/>
              </a:ext>
            </a:extLst>
          </p:cNvPr>
          <p:cNvPicPr>
            <a:picLocks noChangeAspect="1"/>
          </p:cNvPicPr>
          <p:nvPr/>
        </p:nvPicPr>
        <p:blipFill rotWithShape="1">
          <a:blip r:embed="rId3">
            <a:extLst>
              <a:ext uri="{28A0092B-C50C-407E-A947-70E740481C1C}">
                <a14:useLocalDpi xmlns:a14="http://schemas.microsoft.com/office/drawing/2010/main" val="0"/>
              </a:ext>
            </a:extLst>
          </a:blip>
          <a:srcRect l="22698" t="937" r="18983" b="156"/>
          <a:stretch/>
        </p:blipFill>
        <p:spPr bwMode="auto">
          <a:xfrm>
            <a:off x="4835010" y="892527"/>
            <a:ext cx="5843067" cy="4984355"/>
          </a:xfrm>
          <a:prstGeom prst="rect">
            <a:avLst/>
          </a:prstGeom>
          <a:ln>
            <a:noFill/>
          </a:ln>
          <a:effectLst>
            <a:outerShdw blurRad="292100" dist="139700" dir="2700000" algn="tl" rotWithShape="0">
              <a:srgbClr val="333333">
                <a:alpha val="65000"/>
              </a:srgbClr>
            </a:outerShdw>
          </a:effectLst>
          <a:extLst>
            <a:ext uri="{53640926-AAD7-44D8-BBD7-CCE9431645EC}">
              <a14:shadowObscured xmlns:a14="http://schemas.microsoft.com/office/drawing/2010/main"/>
            </a:ext>
          </a:extLst>
        </p:spPr>
      </p:pic>
      <p:pic>
        <p:nvPicPr>
          <p:cNvPr id="12" name="Picture 11">
            <a:extLst>
              <a:ext uri="{FF2B5EF4-FFF2-40B4-BE49-F238E27FC236}">
                <a16:creationId xmlns:a16="http://schemas.microsoft.com/office/drawing/2014/main" id="{B10C7103-BC13-2AAE-5EAB-F51FB49D567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944857" y="3654645"/>
            <a:ext cx="2038322" cy="2038322"/>
          </a:xfrm>
          <a:prstGeom prst="rect">
            <a:avLst/>
          </a:prstGeom>
          <a:ln w="76200">
            <a:solidFill>
              <a:srgbClr val="E98708"/>
            </a:solidFill>
          </a:ln>
        </p:spPr>
      </p:pic>
      <p:sp>
        <p:nvSpPr>
          <p:cNvPr id="9" name="Rectangle: Rounded Corners 8"/>
          <p:cNvSpPr/>
          <p:nvPr/>
        </p:nvSpPr>
        <p:spPr>
          <a:xfrm>
            <a:off x="1313811" y="5063366"/>
            <a:ext cx="3633657" cy="1634490"/>
          </a:xfrm>
          <a:prstGeom prst="roundRect">
            <a:avLst/>
          </a:prstGeom>
          <a:solidFill>
            <a:srgbClr val="FAEEF2">
              <a:alpha val="74902"/>
            </a:srgbClr>
          </a:solidFill>
          <a:ln w="57150">
            <a:solidFill>
              <a:schemeClr val="accent2"/>
            </a:solidFill>
          </a:ln>
        </p:spPr>
        <p:txBody>
          <a:bodyPr wrap="square" lIns="91440" tIns="45720" rIns="91440" bIns="45720" anchor="t">
            <a:spAutoFit/>
          </a:bodyPr>
          <a:lstStyle/>
          <a:p>
            <a:r>
              <a:rPr lang="en-GB" sz="4800" b="1">
                <a:solidFill>
                  <a:srgbClr val="4B2BB2"/>
                </a:solidFill>
              </a:rPr>
              <a:t>3</a:t>
            </a:r>
            <a:r>
              <a:rPr lang="en-GB" sz="3200" b="1">
                <a:solidFill>
                  <a:srgbClr val="E98708"/>
                </a:solidFill>
              </a:rPr>
              <a:t> </a:t>
            </a:r>
          </a:p>
          <a:p>
            <a:pPr fontAlgn="base"/>
            <a:r>
              <a:rPr lang="en-GB">
                <a:solidFill>
                  <a:srgbClr val="292B66"/>
                </a:solidFill>
                <a:ea typeface="+mn-lt"/>
                <a:cs typeface="+mn-lt"/>
              </a:rPr>
              <a:t>★</a:t>
            </a:r>
            <a:r>
              <a:rPr lang="en-GB" b="1">
                <a:solidFill>
                  <a:srgbClr val="292B66"/>
                </a:solidFill>
              </a:rPr>
              <a:t> </a:t>
            </a:r>
            <a:r>
              <a:rPr lang="en-GB" sz="1800" b="1">
                <a:solidFill>
                  <a:srgbClr val="292B66"/>
                </a:solidFill>
              </a:rPr>
              <a:t>Click on </a:t>
            </a:r>
            <a:r>
              <a:rPr lang="en-GB" sz="1800" b="1" i="1">
                <a:solidFill>
                  <a:srgbClr val="292B66"/>
                </a:solidFill>
              </a:rPr>
              <a:t>"Register interest"</a:t>
            </a:r>
            <a:endParaRPr lang="en-GB" sz="1800" b="1" i="1">
              <a:solidFill>
                <a:srgbClr val="292B66"/>
              </a:solidFill>
              <a:cs typeface="Arial"/>
            </a:endParaRPr>
          </a:p>
          <a:p>
            <a:pPr fontAlgn="base"/>
            <a:endParaRPr lang="en-GB" sz="600" b="1" i="1">
              <a:solidFill>
                <a:srgbClr val="292B66"/>
              </a:solidFill>
            </a:endParaRPr>
          </a:p>
          <a:p>
            <a:r>
              <a:rPr lang="en-GB">
                <a:solidFill>
                  <a:srgbClr val="292B66"/>
                </a:solidFill>
                <a:ea typeface="+mn-lt"/>
                <a:cs typeface="+mn-lt"/>
              </a:rPr>
              <a:t>★ </a:t>
            </a:r>
            <a:r>
              <a:rPr lang="en-GB" sz="1800" b="1">
                <a:solidFill>
                  <a:srgbClr val="292B66"/>
                </a:solidFill>
              </a:rPr>
              <a:t>Click </a:t>
            </a:r>
            <a:r>
              <a:rPr lang="en-GB" sz="1800" b="1" i="1">
                <a:solidFill>
                  <a:srgbClr val="292B66"/>
                </a:solidFill>
                <a:latin typeface="Arial"/>
                <a:cs typeface="Arial"/>
              </a:rPr>
              <a:t>[</a:t>
            </a:r>
            <a:r>
              <a:rPr lang="en-GB" sz="1800" b="1">
                <a:solidFill>
                  <a:srgbClr val="292B66"/>
                </a:solidFill>
                <a:latin typeface="Arial"/>
                <a:cs typeface="Arial"/>
              </a:rPr>
              <a:t> </a:t>
            </a:r>
            <a:r>
              <a:rPr lang="en-GB" sz="1800" b="1">
                <a:solidFill>
                  <a:srgbClr val="292B66"/>
                </a:solidFill>
                <a:latin typeface="Wingdings"/>
                <a:sym typeface="Wingdings"/>
              </a:rPr>
              <a:t></a:t>
            </a:r>
            <a:r>
              <a:rPr lang="en-GB" sz="1800" b="1" i="1">
                <a:solidFill>
                  <a:srgbClr val="292B66"/>
                </a:solidFill>
              </a:rPr>
              <a:t>Yes ] </a:t>
            </a:r>
            <a:r>
              <a:rPr lang="en-GB" sz="1800" b="1">
                <a:solidFill>
                  <a:srgbClr val="292B66"/>
                </a:solidFill>
              </a:rPr>
              <a:t>to confirm</a:t>
            </a:r>
            <a:endParaRPr lang="en-US" sz="1800" b="1">
              <a:solidFill>
                <a:srgbClr val="00B0F0"/>
              </a:solidFill>
              <a:cs typeface="Arial"/>
            </a:endParaRPr>
          </a:p>
        </p:txBody>
      </p:sp>
      <p:sp>
        <p:nvSpPr>
          <p:cNvPr id="16" name="TextBox 15">
            <a:extLst>
              <a:ext uri="{FF2B5EF4-FFF2-40B4-BE49-F238E27FC236}">
                <a16:creationId xmlns:a16="http://schemas.microsoft.com/office/drawing/2014/main" id="{465F1E7E-4F96-F8C8-F829-68033FED03AE}"/>
              </a:ext>
            </a:extLst>
          </p:cNvPr>
          <p:cNvSpPr txBox="1"/>
          <p:nvPr/>
        </p:nvSpPr>
        <p:spPr>
          <a:xfrm rot="5400000">
            <a:off x="10616796" y="2020538"/>
            <a:ext cx="1580198" cy="1158020"/>
          </a:xfrm>
          <a:prstGeom prst="homePlate">
            <a:avLst/>
          </a:prstGeom>
          <a:solidFill>
            <a:srgbClr val="FAEEF2">
              <a:alpha val="74902"/>
            </a:srgbClr>
          </a:solidFill>
          <a:ln w="76200">
            <a:solidFill>
              <a:srgbClr val="E98708"/>
            </a:solidFill>
          </a:ln>
        </p:spPr>
        <p:txBody>
          <a:bodyPr vert="vert270" wrap="square" rtlCol="0">
            <a:spAutoFit/>
          </a:bodyPr>
          <a:lstStyle/>
          <a:p>
            <a:pPr algn="ctr"/>
            <a:r>
              <a:rPr lang="en-GB" sz="1600" b="1">
                <a:solidFill>
                  <a:schemeClr val="accent6"/>
                </a:solidFill>
              </a:rPr>
              <a:t>OR</a:t>
            </a:r>
          </a:p>
          <a:p>
            <a:pPr algn="ctr"/>
            <a:r>
              <a:rPr lang="en-GB" sz="1400" b="1">
                <a:solidFill>
                  <a:srgbClr val="292B66"/>
                </a:solidFill>
              </a:rPr>
              <a:t>Scan this QR Code to open the scheme</a:t>
            </a:r>
            <a:endParaRPr lang="en-GB" sz="1600" b="1">
              <a:solidFill>
                <a:srgbClr val="292B66"/>
              </a:solidFill>
            </a:endParaRPr>
          </a:p>
        </p:txBody>
      </p:sp>
      <p:sp>
        <p:nvSpPr>
          <p:cNvPr id="17" name="TextBox 16">
            <a:extLst>
              <a:ext uri="{FF2B5EF4-FFF2-40B4-BE49-F238E27FC236}">
                <a16:creationId xmlns:a16="http://schemas.microsoft.com/office/drawing/2014/main" id="{3C5D89C8-DBD9-2684-AB06-8C3C97853BEB}"/>
              </a:ext>
            </a:extLst>
          </p:cNvPr>
          <p:cNvSpPr txBox="1"/>
          <p:nvPr/>
        </p:nvSpPr>
        <p:spPr>
          <a:xfrm>
            <a:off x="202041" y="146057"/>
            <a:ext cx="3163096" cy="2349579"/>
          </a:xfrm>
          <a:prstGeom prst="roundRect">
            <a:avLst/>
          </a:prstGeom>
          <a:solidFill>
            <a:srgbClr val="FAEEF2">
              <a:alpha val="89804"/>
            </a:srgbClr>
          </a:solidFill>
          <a:ln w="57150">
            <a:solidFill>
              <a:srgbClr val="E98708"/>
            </a:solidFill>
          </a:ln>
        </p:spPr>
        <p:txBody>
          <a:bodyPr wrap="square" lIns="91440" tIns="45720" rIns="91440" bIns="45720" rtlCol="0" anchor="t">
            <a:spAutoFit/>
          </a:bodyPr>
          <a:lstStyle/>
          <a:p>
            <a:r>
              <a:rPr lang="en-GB" sz="4800" b="1">
                <a:solidFill>
                  <a:srgbClr val="178884"/>
                </a:solidFill>
              </a:rPr>
              <a:t>1</a:t>
            </a:r>
            <a:endParaRPr lang="en-GB" sz="4800">
              <a:solidFill>
                <a:srgbClr val="292B66"/>
              </a:solidFill>
              <a:cs typeface="Arial"/>
            </a:endParaRPr>
          </a:p>
          <a:p>
            <a:r>
              <a:rPr lang="en-GB">
                <a:solidFill>
                  <a:srgbClr val="292B66"/>
                </a:solidFill>
                <a:ea typeface="+mn-lt"/>
                <a:cs typeface="+mn-lt"/>
              </a:rPr>
              <a:t>★</a:t>
            </a:r>
            <a:r>
              <a:rPr lang="en-GB" b="1">
                <a:solidFill>
                  <a:srgbClr val="292B66"/>
                </a:solidFill>
              </a:rPr>
              <a:t> </a:t>
            </a:r>
            <a:r>
              <a:rPr lang="en-GB" sz="1800" b="1">
                <a:solidFill>
                  <a:srgbClr val="292B66"/>
                </a:solidFill>
              </a:rPr>
              <a:t>Log on / Sign up to </a:t>
            </a:r>
            <a:r>
              <a:rPr lang="en-GB" sz="1800" b="1" i="1" u="sng">
                <a:solidFill>
                  <a:srgbClr val="292B66"/>
                </a:solidFill>
                <a:hlinkClick r:id="rId5"/>
              </a:rPr>
              <a:t>MyCareer.leeds.ac.uk</a:t>
            </a:r>
            <a:endParaRPr lang="en-GB" sz="1800" b="1" i="1" u="sng">
              <a:solidFill>
                <a:srgbClr val="292B66"/>
              </a:solidFill>
              <a:cs typeface="Arial"/>
              <a:hlinkClick r:id="" action="ppaction://noaction"/>
            </a:endParaRPr>
          </a:p>
          <a:p>
            <a:endParaRPr lang="en-GB" sz="600" b="1" i="1">
              <a:solidFill>
                <a:srgbClr val="292B66"/>
              </a:solidFill>
            </a:endParaRPr>
          </a:p>
          <a:p>
            <a:r>
              <a:rPr lang="en-GB">
                <a:solidFill>
                  <a:srgbClr val="292B66"/>
                </a:solidFill>
                <a:ea typeface="+mn-lt"/>
                <a:cs typeface="+mn-lt"/>
              </a:rPr>
              <a:t>★</a:t>
            </a:r>
            <a:r>
              <a:rPr lang="en-GB" b="1">
                <a:solidFill>
                  <a:srgbClr val="292B66"/>
                </a:solidFill>
              </a:rPr>
              <a:t> </a:t>
            </a:r>
            <a:r>
              <a:rPr lang="en-GB" sz="1800" b="1">
                <a:solidFill>
                  <a:srgbClr val="292B66"/>
                </a:solidFill>
              </a:rPr>
              <a:t>Click </a:t>
            </a:r>
            <a:r>
              <a:rPr lang="en-GB" sz="1800" b="1" i="1">
                <a:solidFill>
                  <a:srgbClr val="292B66"/>
                </a:solidFill>
              </a:rPr>
              <a:t>"Search"</a:t>
            </a:r>
            <a:endParaRPr lang="en-GB" sz="1800" b="1" i="1">
              <a:solidFill>
                <a:srgbClr val="292B66"/>
              </a:solidFill>
              <a:cs typeface="Arial"/>
            </a:endParaRPr>
          </a:p>
          <a:p>
            <a:endParaRPr lang="en-GB" sz="600" b="1" i="1">
              <a:solidFill>
                <a:srgbClr val="292B66"/>
              </a:solidFill>
            </a:endParaRPr>
          </a:p>
          <a:p>
            <a:r>
              <a:rPr lang="en-GB">
                <a:solidFill>
                  <a:srgbClr val="292B66"/>
                </a:solidFill>
                <a:ea typeface="+mn-lt"/>
                <a:cs typeface="+mn-lt"/>
              </a:rPr>
              <a:t>★</a:t>
            </a:r>
            <a:r>
              <a:rPr lang="en-GB" b="1">
                <a:solidFill>
                  <a:srgbClr val="292B66"/>
                </a:solidFill>
              </a:rPr>
              <a:t> </a:t>
            </a:r>
            <a:r>
              <a:rPr lang="en-GB" sz="1800" b="1">
                <a:solidFill>
                  <a:srgbClr val="292B66"/>
                </a:solidFill>
              </a:rPr>
              <a:t>Select </a:t>
            </a:r>
            <a:r>
              <a:rPr lang="en-GB" sz="1800" b="1" i="1">
                <a:solidFill>
                  <a:srgbClr val="292B66"/>
                </a:solidFill>
              </a:rPr>
              <a:t>"Scheme List"</a:t>
            </a:r>
            <a:endParaRPr lang="en-GB" sz="1800" b="1" i="1">
              <a:solidFill>
                <a:srgbClr val="292B66"/>
              </a:solidFill>
              <a:cs typeface="Arial"/>
            </a:endParaRPr>
          </a:p>
        </p:txBody>
      </p:sp>
      <p:sp>
        <p:nvSpPr>
          <p:cNvPr id="14" name="TextBox 13">
            <a:extLst>
              <a:ext uri="{FF2B5EF4-FFF2-40B4-BE49-F238E27FC236}">
                <a16:creationId xmlns:a16="http://schemas.microsoft.com/office/drawing/2014/main" id="{29EFCA8E-A479-9C6F-D298-31E962E516F9}"/>
              </a:ext>
            </a:extLst>
          </p:cNvPr>
          <p:cNvSpPr txBox="1"/>
          <p:nvPr/>
        </p:nvSpPr>
        <p:spPr>
          <a:xfrm>
            <a:off x="3961851" y="148968"/>
            <a:ext cx="6557771" cy="715089"/>
          </a:xfrm>
          <a:prstGeom prst="roundRect">
            <a:avLst/>
          </a:prstGeom>
          <a:solidFill>
            <a:srgbClr val="FAEEF2"/>
          </a:solidFill>
          <a:ln w="76200">
            <a:solidFill>
              <a:srgbClr val="E98708"/>
            </a:solidFill>
          </a:ln>
        </p:spPr>
        <p:txBody>
          <a:bodyPr wrap="square" rtlCol="0">
            <a:spAutoFit/>
          </a:bodyPr>
          <a:lstStyle/>
          <a:p>
            <a:pPr algn="ctr"/>
            <a:r>
              <a:rPr lang="en-GB" sz="3600" b="1">
                <a:solidFill>
                  <a:srgbClr val="178884"/>
                </a:solidFill>
              </a:rPr>
              <a:t>How to opt in to Exclusives:</a:t>
            </a:r>
          </a:p>
        </p:txBody>
      </p:sp>
      <p:sp>
        <p:nvSpPr>
          <p:cNvPr id="18" name="Rectangle: Rounded Corners 17">
            <a:extLst>
              <a:ext uri="{FF2B5EF4-FFF2-40B4-BE49-F238E27FC236}">
                <a16:creationId xmlns:a16="http://schemas.microsoft.com/office/drawing/2014/main" id="{A826F026-D7EF-2CD7-C57D-680459F6619B}"/>
              </a:ext>
            </a:extLst>
          </p:cNvPr>
          <p:cNvSpPr/>
          <p:nvPr/>
        </p:nvSpPr>
        <p:spPr>
          <a:xfrm>
            <a:off x="521830" y="2704697"/>
            <a:ext cx="4025735" cy="2145268"/>
          </a:xfrm>
          <a:prstGeom prst="roundRect">
            <a:avLst/>
          </a:prstGeom>
          <a:solidFill>
            <a:srgbClr val="FAEEF2">
              <a:alpha val="74902"/>
            </a:srgbClr>
          </a:solidFill>
          <a:ln w="57150">
            <a:solidFill>
              <a:schemeClr val="accent2"/>
            </a:solidFill>
          </a:ln>
        </p:spPr>
        <p:txBody>
          <a:bodyPr wrap="square" lIns="91440" tIns="45720" rIns="91440" bIns="45720" anchor="t">
            <a:spAutoFit/>
          </a:bodyPr>
          <a:lstStyle/>
          <a:p>
            <a:r>
              <a:rPr lang="en-GB" sz="4800" b="1">
                <a:solidFill>
                  <a:schemeClr val="accent6"/>
                </a:solidFill>
              </a:rPr>
              <a:t>2</a:t>
            </a:r>
          </a:p>
          <a:p>
            <a:r>
              <a:rPr lang="en-GB">
                <a:solidFill>
                  <a:srgbClr val="292B66"/>
                </a:solidFill>
                <a:ea typeface="+mn-lt"/>
                <a:cs typeface="+mn-lt"/>
              </a:rPr>
              <a:t>★ </a:t>
            </a:r>
            <a:r>
              <a:rPr lang="en-GB" sz="1800" b="1">
                <a:solidFill>
                  <a:srgbClr val="292B66"/>
                </a:solidFill>
              </a:rPr>
              <a:t>Find </a:t>
            </a:r>
            <a:r>
              <a:rPr lang="en-GB" b="1">
                <a:solidFill>
                  <a:srgbClr val="292B66"/>
                </a:solidFill>
              </a:rPr>
              <a:t>scheme:</a:t>
            </a:r>
            <a:endParaRPr lang="en-GB" b="1">
              <a:solidFill>
                <a:srgbClr val="292B66"/>
              </a:solidFill>
              <a:cs typeface="Arial"/>
            </a:endParaRPr>
          </a:p>
          <a:p>
            <a:r>
              <a:rPr lang="en-GB" sz="1800" b="1" i="1">
                <a:solidFill>
                  <a:srgbClr val="292B66"/>
                </a:solidFill>
              </a:rPr>
              <a:t>"Engineering and Physical Sciences Exclusive Placements, Internships and Graduate Roles"</a:t>
            </a:r>
            <a:endParaRPr lang="en-GB" sz="1800" b="1">
              <a:solidFill>
                <a:srgbClr val="292B66"/>
              </a:solidFill>
              <a:cs typeface="Arial"/>
            </a:endParaRPr>
          </a:p>
        </p:txBody>
      </p:sp>
      <p:sp>
        <p:nvSpPr>
          <p:cNvPr id="19" name="Oval 18">
            <a:extLst>
              <a:ext uri="{FF2B5EF4-FFF2-40B4-BE49-F238E27FC236}">
                <a16:creationId xmlns:a16="http://schemas.microsoft.com/office/drawing/2014/main" id="{99791F51-2B00-D860-B747-BF88ED63C08E}"/>
              </a:ext>
            </a:extLst>
          </p:cNvPr>
          <p:cNvSpPr/>
          <p:nvPr/>
        </p:nvSpPr>
        <p:spPr>
          <a:xfrm rot="-780000">
            <a:off x="5186286" y="1002666"/>
            <a:ext cx="1365151" cy="837668"/>
          </a:xfrm>
          <a:prstGeom prst="ellipse">
            <a:avLst/>
          </a:prstGeom>
          <a:noFill/>
          <a:ln w="762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0" name="Oval 19">
            <a:extLst>
              <a:ext uri="{FF2B5EF4-FFF2-40B4-BE49-F238E27FC236}">
                <a16:creationId xmlns:a16="http://schemas.microsoft.com/office/drawing/2014/main" id="{947F0EFA-6BAA-2DF6-277A-9D6956BABAF3}"/>
              </a:ext>
            </a:extLst>
          </p:cNvPr>
          <p:cNvSpPr/>
          <p:nvPr/>
        </p:nvSpPr>
        <p:spPr>
          <a:xfrm>
            <a:off x="6011574" y="1855248"/>
            <a:ext cx="3500289" cy="715089"/>
          </a:xfrm>
          <a:prstGeom prst="ellipse">
            <a:avLst/>
          </a:prstGeom>
          <a:noFill/>
          <a:ln w="762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1" name="Oval 20">
            <a:extLst>
              <a:ext uri="{FF2B5EF4-FFF2-40B4-BE49-F238E27FC236}">
                <a16:creationId xmlns:a16="http://schemas.microsoft.com/office/drawing/2014/main" id="{F246625A-6C61-2B5B-9AC0-32C1C362C8C2}"/>
              </a:ext>
            </a:extLst>
          </p:cNvPr>
          <p:cNvSpPr/>
          <p:nvPr/>
        </p:nvSpPr>
        <p:spPr>
          <a:xfrm>
            <a:off x="5926418" y="4480753"/>
            <a:ext cx="1828526" cy="1396128"/>
          </a:xfrm>
          <a:prstGeom prst="ellipse">
            <a:avLst/>
          </a:prstGeom>
          <a:noFill/>
          <a:ln w="76200">
            <a:solidFill>
              <a:srgbClr val="4B2BB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800"/>
          </a:p>
        </p:txBody>
      </p:sp>
      <p:cxnSp>
        <p:nvCxnSpPr>
          <p:cNvPr id="23" name="Straight Arrow Connector 22">
            <a:extLst>
              <a:ext uri="{FF2B5EF4-FFF2-40B4-BE49-F238E27FC236}">
                <a16:creationId xmlns:a16="http://schemas.microsoft.com/office/drawing/2014/main" id="{E6085FB4-DF93-19E0-237B-9B671C3B920A}"/>
              </a:ext>
            </a:extLst>
          </p:cNvPr>
          <p:cNvCxnSpPr>
            <a:cxnSpLocks/>
          </p:cNvCxnSpPr>
          <p:nvPr/>
        </p:nvCxnSpPr>
        <p:spPr>
          <a:xfrm>
            <a:off x="802890" y="563954"/>
            <a:ext cx="4451857" cy="796377"/>
          </a:xfrm>
          <a:prstGeom prst="straightConnector1">
            <a:avLst/>
          </a:prstGeom>
          <a:ln w="76200">
            <a:solidFill>
              <a:srgbClr val="178884"/>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EFBFF72B-787E-8A71-4F28-167253D9ECD9}"/>
              </a:ext>
            </a:extLst>
          </p:cNvPr>
          <p:cNvCxnSpPr>
            <a:cxnSpLocks/>
          </p:cNvCxnSpPr>
          <p:nvPr/>
        </p:nvCxnSpPr>
        <p:spPr>
          <a:xfrm flipV="1">
            <a:off x="1219616" y="2274129"/>
            <a:ext cx="4864826" cy="943902"/>
          </a:xfrm>
          <a:prstGeom prst="straightConnector1">
            <a:avLst/>
          </a:prstGeom>
          <a:ln w="762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33452A08-095B-CCDB-B8AC-3FD976D191E1}"/>
              </a:ext>
            </a:extLst>
          </p:cNvPr>
          <p:cNvCxnSpPr>
            <a:cxnSpLocks/>
          </p:cNvCxnSpPr>
          <p:nvPr/>
        </p:nvCxnSpPr>
        <p:spPr>
          <a:xfrm flipV="1">
            <a:off x="1979826" y="5306427"/>
            <a:ext cx="3936128" cy="284029"/>
          </a:xfrm>
          <a:prstGeom prst="straightConnector1">
            <a:avLst/>
          </a:prstGeom>
          <a:ln w="76200">
            <a:solidFill>
              <a:srgbClr val="4B2BB2"/>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806BD654-B7D7-3F0A-1FA5-4814A0F3DF89}"/>
              </a:ext>
            </a:extLst>
          </p:cNvPr>
          <p:cNvCxnSpPr>
            <a:cxnSpLocks/>
          </p:cNvCxnSpPr>
          <p:nvPr/>
        </p:nvCxnSpPr>
        <p:spPr>
          <a:xfrm flipV="1">
            <a:off x="9418344" y="1911114"/>
            <a:ext cx="1248700" cy="213517"/>
          </a:xfrm>
          <a:prstGeom prst="straightConnector1">
            <a:avLst/>
          </a:prstGeom>
          <a:ln w="762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8276664"/>
      </p:ext>
    </p:extLst>
  </p:cSld>
  <p:clrMapOvr>
    <a:masterClrMapping/>
  </p:clrMapOvr>
  <mc:AlternateContent xmlns:mc="http://schemas.openxmlformats.org/markup-compatibility/2006" xmlns:p14="http://schemas.microsoft.com/office/powerpoint/2010/main">
    <mc:Choice Requires="p14">
      <p:transition spd="slow" p14:dur="2000" advClick="0" advTm="20000"/>
    </mc:Choice>
    <mc:Fallback xmlns="">
      <p:transition spd="slow" advClick="0" advTm="2000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29FD50D-3B9E-7556-87FE-4BC7385E50FF}"/>
              </a:ext>
            </a:extLst>
          </p:cNvPr>
          <p:cNvSpPr>
            <a:spLocks noGrp="1"/>
          </p:cNvSpPr>
          <p:nvPr>
            <p:ph type="body" sz="quarter" idx="11"/>
          </p:nvPr>
        </p:nvSpPr>
        <p:spPr>
          <a:xfrm>
            <a:off x="641715" y="388892"/>
            <a:ext cx="7759700" cy="575100"/>
          </a:xfrm>
        </p:spPr>
        <p:txBody>
          <a:bodyPr vert="horz" lIns="91440" tIns="45720" rIns="91440" bIns="45720" rtlCol="0" anchor="t">
            <a:noAutofit/>
          </a:bodyPr>
          <a:lstStyle/>
          <a:p>
            <a:r>
              <a:rPr lang="en-GB" b="1">
                <a:solidFill>
                  <a:schemeClr val="tx1"/>
                </a:solidFill>
                <a:ea typeface="Calibri"/>
                <a:cs typeface="Calibri"/>
              </a:rPr>
              <a:t>EPS Minerva Resources for Students</a:t>
            </a:r>
          </a:p>
        </p:txBody>
      </p:sp>
      <p:sp>
        <p:nvSpPr>
          <p:cNvPr id="6" name="Rounded Rectangle 8">
            <a:extLst>
              <a:ext uri="{FF2B5EF4-FFF2-40B4-BE49-F238E27FC236}">
                <a16:creationId xmlns:a16="http://schemas.microsoft.com/office/drawing/2014/main" id="{0E6F69AE-F4E6-2BB8-C02C-7D2811D40FD1}"/>
              </a:ext>
            </a:extLst>
          </p:cNvPr>
          <p:cNvSpPr/>
          <p:nvPr/>
        </p:nvSpPr>
        <p:spPr>
          <a:xfrm>
            <a:off x="248369" y="1356527"/>
            <a:ext cx="11565653" cy="5112581"/>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white"/>
                </a:solidFill>
                <a:effectLst/>
                <a:uLnTx/>
                <a:uFillTx/>
                <a:latin typeface="Arial"/>
                <a:ea typeface="Calibri"/>
                <a:cs typeface="Arial"/>
              </a:rPr>
              <a:t>R</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srgbClr val="FFFFFF"/>
              </a:solidFill>
              <a:effectLst/>
              <a:uLnTx/>
              <a:uFillTx/>
              <a:latin typeface="Arial"/>
              <a:ea typeface="Calibri"/>
              <a:cs typeface="Arial"/>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srgbClr val="FFFFFF"/>
              </a:solidFill>
              <a:effectLst/>
              <a:uLnTx/>
              <a:uFillTx/>
              <a:latin typeface="Arial"/>
              <a:ea typeface="Calibri"/>
              <a:cs typeface="Arial"/>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800" b="1" i="0" u="none" strike="noStrike" kern="1200" cap="none" spc="0" normalizeH="0" baseline="0" noProof="0" dirty="0">
              <a:ln>
                <a:noFill/>
              </a:ln>
              <a:solidFill>
                <a:srgbClr val="000000"/>
              </a:solidFill>
              <a:effectLst/>
              <a:uLnTx/>
              <a:uFillTx/>
              <a:latin typeface="Arial"/>
              <a:ea typeface="+mn-ea"/>
              <a:cs typeface="Aria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200" b="1" i="0" u="none" strike="noStrike" kern="1200" cap="none" spc="0" normalizeH="0" baseline="0" noProof="0" dirty="0">
                <a:ln>
                  <a:noFill/>
                </a:ln>
                <a:solidFill>
                  <a:srgbClr val="CD1953"/>
                </a:solidFill>
                <a:effectLst/>
                <a:uLnTx/>
                <a:uFillTx/>
                <a:latin typeface="Arial"/>
                <a:ea typeface="+mn-ea"/>
                <a:cs typeface="Arial"/>
              </a:rPr>
              <a:t>Resources</a:t>
            </a:r>
            <a:endParaRPr lang="en-GB" sz="3200" b="1" i="0" u="none" strike="noStrike" kern="1200" cap="none" spc="0" normalizeH="0" baseline="0" noProof="0" dirty="0">
              <a:ln>
                <a:noFill/>
              </a:ln>
              <a:solidFill>
                <a:srgbClr val="CD1953"/>
              </a:solidFill>
              <a:effectLst/>
              <a:uLnTx/>
              <a:uFillTx/>
              <a:latin typeface="Arial"/>
              <a:cs typeface="Aria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dirty="0">
                <a:ln>
                  <a:noFill/>
                </a:ln>
                <a:solidFill>
                  <a:prstClr val="black"/>
                </a:solidFill>
                <a:effectLst/>
                <a:uLnTx/>
                <a:uFillTx/>
                <a:latin typeface="Arial"/>
                <a:ea typeface="+mn-ea"/>
                <a:cs typeface="Arial"/>
              </a:rPr>
              <a:t>Application Support</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dirty="0">
                <a:ln>
                  <a:noFill/>
                </a:ln>
                <a:solidFill>
                  <a:prstClr val="black"/>
                </a:solidFill>
                <a:effectLst/>
                <a:uLnTx/>
                <a:uFillTx/>
                <a:latin typeface="Arial"/>
                <a:ea typeface="+mn-ea"/>
                <a:cs typeface="Arial"/>
              </a:rPr>
              <a:t>CV and Cover Letter Templates</a:t>
            </a:r>
            <a:endParaRPr kumimoji="0" lang="en-GB" sz="1800" b="0" i="0" u="none" strike="noStrike" kern="1200" cap="none" spc="0" normalizeH="0" baseline="0" noProof="0" dirty="0">
              <a:ln>
                <a:noFill/>
              </a:ln>
              <a:solidFill>
                <a:prstClr val="black"/>
              </a:solidFill>
              <a:effectLst/>
              <a:uLnTx/>
              <a:uFillTx/>
              <a:latin typeface="Calibri" panose="020F0502020204030204"/>
              <a:ea typeface="Calibri"/>
              <a:cs typeface="Calibri"/>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dirty="0">
                <a:ln>
                  <a:noFill/>
                </a:ln>
                <a:solidFill>
                  <a:prstClr val="black"/>
                </a:solidFill>
                <a:effectLst/>
                <a:uLnTx/>
                <a:uFillTx/>
                <a:latin typeface="Arial"/>
                <a:ea typeface="+mn-ea"/>
                <a:cs typeface="Arial"/>
              </a:rPr>
              <a:t>Placement / Summer Internship / Global Opportunities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dirty="0">
                <a:ln>
                  <a:noFill/>
                </a:ln>
                <a:solidFill>
                  <a:prstClr val="black"/>
                </a:solidFill>
                <a:effectLst/>
                <a:uLnTx/>
                <a:uFillTx/>
                <a:latin typeface="Arial"/>
                <a:ea typeface="+mn-ea"/>
                <a:cs typeface="Arial"/>
              </a:rPr>
              <a:t>FAQs and Employability Information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3200" b="1" i="0" u="none" strike="noStrike" kern="1200" cap="none" spc="0" normalizeH="0" baseline="0" noProof="0" dirty="0">
              <a:ln>
                <a:noFill/>
              </a:ln>
              <a:solidFill>
                <a:prstClr val="black"/>
              </a:solidFill>
              <a:effectLst/>
              <a:uLnTx/>
              <a:uFillTx/>
              <a:latin typeface="Arial"/>
              <a:ea typeface="+mn-ea"/>
              <a:cs typeface="Aria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200" b="1" i="0" u="none" strike="noStrike" kern="1200" cap="none" spc="0" normalizeH="0" baseline="0" noProof="0" dirty="0">
                <a:ln>
                  <a:noFill/>
                </a:ln>
                <a:solidFill>
                  <a:srgbClr val="CD1953"/>
                </a:solidFill>
                <a:effectLst/>
                <a:uLnTx/>
                <a:uFillTx/>
                <a:latin typeface="Arial"/>
                <a:ea typeface="+mn-ea"/>
                <a:cs typeface="Arial"/>
              </a:rPr>
              <a:t>How to access EPS Minerva Resources</a:t>
            </a:r>
            <a:r>
              <a:rPr kumimoji="0" lang="en-GB" sz="3200" b="1" i="0" u="none" strike="noStrike" kern="1200" cap="none" spc="0" normalizeH="0" baseline="0" noProof="0" dirty="0">
                <a:ln>
                  <a:noFill/>
                </a:ln>
                <a:solidFill>
                  <a:prstClr val="black"/>
                </a:solidFill>
                <a:effectLst/>
                <a:uLnTx/>
                <a:uFillTx/>
                <a:latin typeface="Arial"/>
                <a:ea typeface="+mn-ea"/>
                <a:cs typeface="Arial"/>
              </a:rPr>
              <a:t>:</a:t>
            </a:r>
            <a:endParaRPr kumimoji="0" lang="en-GB" sz="3200" b="1" i="0" u="none" strike="noStrike" kern="1200" cap="none" spc="0" normalizeH="0" baseline="0" noProof="0" dirty="0">
              <a:ln>
                <a:noFill/>
              </a:ln>
              <a:solidFill>
                <a:prstClr val="black"/>
              </a:solidFill>
              <a:effectLst/>
              <a:uLnTx/>
              <a:uFillTx/>
              <a:latin typeface="Arial"/>
              <a:ea typeface="Calibri"/>
              <a:cs typeface="Aria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dirty="0">
                <a:ln>
                  <a:noFill/>
                </a:ln>
                <a:solidFill>
                  <a:prstClr val="black"/>
                </a:solidFill>
                <a:effectLst/>
                <a:uLnTx/>
                <a:uFillTx/>
                <a:latin typeface="Arial"/>
                <a:ea typeface="+mn-ea"/>
                <a:cs typeface="Arial"/>
              </a:rPr>
              <a:t>Sign in to Minerva</a:t>
            </a:r>
            <a:endParaRPr kumimoji="0" lang="en-GB" sz="2400" b="1" i="0" u="none" strike="noStrike" kern="1200" cap="none" spc="0" normalizeH="0" baseline="0" noProof="0" dirty="0">
              <a:ln>
                <a:noFill/>
              </a:ln>
              <a:solidFill>
                <a:prstClr val="black"/>
              </a:solidFill>
              <a:effectLst/>
              <a:uLnTx/>
              <a:uFillTx/>
              <a:latin typeface="Arial"/>
              <a:ea typeface="Calibri"/>
              <a:cs typeface="Arial"/>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400" b="1" i="0" u="none" strike="noStrike" kern="1200" cap="none" spc="0" normalizeH="0" baseline="0" noProof="0" dirty="0">
              <a:ln>
                <a:noFill/>
              </a:ln>
              <a:solidFill>
                <a:prstClr val="black"/>
              </a:solidFill>
              <a:effectLst/>
              <a:uLnTx/>
              <a:uFillTx/>
              <a:latin typeface="Arial"/>
              <a:ea typeface="+mn-ea"/>
              <a:cs typeface="Aria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dirty="0">
                <a:ln>
                  <a:noFill/>
                </a:ln>
                <a:solidFill>
                  <a:prstClr val="black"/>
                </a:solidFill>
                <a:effectLst/>
                <a:uLnTx/>
                <a:uFillTx/>
                <a:latin typeface="Arial"/>
                <a:ea typeface="+mn-ea"/>
                <a:cs typeface="Arial"/>
              </a:rPr>
              <a:t>On the left-hand panel, select 'Organisations'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400" b="1" i="0" u="none" strike="noStrike" kern="1200" cap="none" spc="0" normalizeH="0" baseline="0" noProof="0" dirty="0">
              <a:ln>
                <a:noFill/>
              </a:ln>
              <a:solidFill>
                <a:prstClr val="black"/>
              </a:solidFill>
              <a:effectLst/>
              <a:uLnTx/>
              <a:uFillTx/>
              <a:latin typeface="Arial"/>
              <a:ea typeface="+mn-ea"/>
              <a:cs typeface="Aria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dirty="0">
                <a:ln>
                  <a:noFill/>
                </a:ln>
                <a:solidFill>
                  <a:prstClr val="black"/>
                </a:solidFill>
                <a:effectLst/>
                <a:uLnTx/>
                <a:uFillTx/>
                <a:latin typeface="Arial"/>
                <a:ea typeface="+mn-ea"/>
                <a:cs typeface="Arial"/>
              </a:rPr>
              <a:t>Select – 'EPS Employability'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3200" b="1" i="0" u="none" strike="noStrike" kern="1200" cap="none" spc="0" normalizeH="0" baseline="0" noProof="0" dirty="0">
              <a:ln>
                <a:noFill/>
              </a:ln>
              <a:solidFill>
                <a:srgbClr val="C00000"/>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1" i="0" u="none" strike="noStrike" kern="1200" cap="none" spc="0" normalizeH="0" baseline="0" noProof="0" dirty="0">
              <a:ln>
                <a:noFill/>
              </a:ln>
              <a:solidFill>
                <a:srgbClr val="C00000"/>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1" i="0" u="none" strike="noStrike" kern="1200" cap="none" spc="0" normalizeH="0" baseline="0" noProof="0" dirty="0">
              <a:ln>
                <a:noFill/>
              </a:ln>
              <a:solidFill>
                <a:srgbClr val="C00000"/>
              </a:solidFill>
              <a:effectLst/>
              <a:uLnTx/>
              <a:uFillTx/>
              <a:latin typeface="Arial"/>
              <a:ea typeface="+mn-ea"/>
              <a:cs typeface="Arial"/>
            </a:endParaRPr>
          </a:p>
        </p:txBody>
      </p:sp>
      <p:sp>
        <p:nvSpPr>
          <p:cNvPr id="8" name="Arrow: Down 7">
            <a:extLst>
              <a:ext uri="{FF2B5EF4-FFF2-40B4-BE49-F238E27FC236}">
                <a16:creationId xmlns:a16="http://schemas.microsoft.com/office/drawing/2014/main" id="{060B80E4-F71D-020A-2002-844B972D9816}"/>
              </a:ext>
            </a:extLst>
          </p:cNvPr>
          <p:cNvSpPr/>
          <p:nvPr/>
        </p:nvSpPr>
        <p:spPr>
          <a:xfrm>
            <a:off x="6045656" y="5648024"/>
            <a:ext cx="201613" cy="30241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Arrow: Down 9">
            <a:extLst>
              <a:ext uri="{FF2B5EF4-FFF2-40B4-BE49-F238E27FC236}">
                <a16:creationId xmlns:a16="http://schemas.microsoft.com/office/drawing/2014/main" id="{EF4B2901-3A8D-D675-6E2E-4EAC09067D4E}"/>
              </a:ext>
            </a:extLst>
          </p:cNvPr>
          <p:cNvSpPr/>
          <p:nvPr/>
        </p:nvSpPr>
        <p:spPr>
          <a:xfrm>
            <a:off x="6031196" y="4893471"/>
            <a:ext cx="205124" cy="32429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517991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0B294-BF7A-B7D6-075B-17EF7C82B3C2}"/>
            </a:ext>
          </a:extLst>
        </p:cNvPr>
        <p:cNvGrpSpPr/>
        <p:nvPr/>
      </p:nvGrpSpPr>
      <p:grpSpPr>
        <a:xfrm>
          <a:off x="0" y="0"/>
          <a:ext cx="0" cy="0"/>
          <a:chOff x="0" y="0"/>
          <a:chExt cx="0" cy="0"/>
        </a:xfrm>
      </p:grpSpPr>
      <p:sp>
        <p:nvSpPr>
          <p:cNvPr id="39" name="TextBox 38">
            <a:extLst>
              <a:ext uri="{FF2B5EF4-FFF2-40B4-BE49-F238E27FC236}">
                <a16:creationId xmlns:a16="http://schemas.microsoft.com/office/drawing/2014/main" id="{1B375C75-7E04-ADE2-9DDB-224080E2D90F}"/>
              </a:ext>
            </a:extLst>
          </p:cNvPr>
          <p:cNvSpPr txBox="1"/>
          <p:nvPr/>
        </p:nvSpPr>
        <p:spPr>
          <a:xfrm>
            <a:off x="406305" y="534996"/>
            <a:ext cx="8829040" cy="584775"/>
          </a:xfrm>
          <a:prstGeom prst="rect">
            <a:avLst/>
          </a:prstGeom>
          <a:noFill/>
        </p:spPr>
        <p:txBody>
          <a:bodyPr wrap="square" lIns="91440" tIns="45720" rIns="91440" bIns="45720" anchor="t">
            <a:spAutoFit/>
          </a:bodyPr>
          <a:lstStyle/>
          <a:p>
            <a:pPr>
              <a:defRPr/>
            </a:pPr>
            <a:r>
              <a:rPr lang="en-US" sz="3200" b="1" dirty="0">
                <a:solidFill>
                  <a:srgbClr val="1E8884"/>
                </a:solidFill>
                <a:latin typeface="Aptos Black"/>
                <a:ea typeface="Calibri"/>
                <a:cs typeface="Calibri"/>
              </a:rPr>
              <a:t>Searching for Opportunities </a:t>
            </a:r>
            <a:endParaRPr lang="en-US" dirty="0"/>
          </a:p>
        </p:txBody>
      </p:sp>
      <p:sp>
        <p:nvSpPr>
          <p:cNvPr id="2" name="TextBox 1">
            <a:extLst>
              <a:ext uri="{FF2B5EF4-FFF2-40B4-BE49-F238E27FC236}">
                <a16:creationId xmlns:a16="http://schemas.microsoft.com/office/drawing/2014/main" id="{5C6A07F4-47B9-D857-FA59-AB2FB1EBA4C3}"/>
              </a:ext>
            </a:extLst>
          </p:cNvPr>
          <p:cNvSpPr txBox="1"/>
          <p:nvPr/>
        </p:nvSpPr>
        <p:spPr>
          <a:xfrm>
            <a:off x="406400" y="1417320"/>
            <a:ext cx="10744200" cy="5170646"/>
          </a:xfrm>
          <a:prstGeom prst="rect">
            <a:avLst/>
          </a:prstGeom>
          <a:noFill/>
        </p:spPr>
        <p:txBody>
          <a:bodyPr wrap="square" lIns="91440" tIns="45720" rIns="91440" bIns="45720" rtlCol="0" anchor="t">
            <a:spAutoFit/>
          </a:bodyPr>
          <a:lstStyle/>
          <a:p>
            <a:r>
              <a:rPr lang="en-GB" sz="2800" b="1" dirty="0">
                <a:solidFill>
                  <a:srgbClr val="0070C0"/>
                </a:solidFill>
              </a:rPr>
              <a:t>There are 3 main Job Search Resources for Maths Students:</a:t>
            </a:r>
            <a:endParaRPr lang="en-US" dirty="0"/>
          </a:p>
          <a:p>
            <a:endParaRPr lang="en-GB" sz="1000" dirty="0"/>
          </a:p>
          <a:p>
            <a:pPr marL="457200" indent="-457200">
              <a:buAutoNum type="arabicPeriod"/>
            </a:pPr>
            <a:r>
              <a:rPr lang="en-GB" sz="2000" b="1" dirty="0" err="1">
                <a:ea typeface="Calibri"/>
                <a:cs typeface="Calibri"/>
              </a:rPr>
              <a:t>MyCareer</a:t>
            </a:r>
            <a:r>
              <a:rPr lang="en-GB" sz="2000" dirty="0">
                <a:ea typeface="Calibri"/>
                <a:cs typeface="Calibri"/>
              </a:rPr>
              <a:t> </a:t>
            </a:r>
          </a:p>
          <a:p>
            <a:r>
              <a:rPr lang="en-GB" sz="2000" dirty="0">
                <a:ea typeface="Calibri"/>
                <a:cs typeface="Calibri"/>
              </a:rPr>
              <a:t>For a wide variety of jobs, some Maths related. There are also part-time vacancies and on-campus work opportunities such as research roles. </a:t>
            </a:r>
          </a:p>
          <a:p>
            <a:r>
              <a:rPr lang="en-GB" sz="2000" b="1" dirty="0">
                <a:ea typeface="Calibri"/>
                <a:cs typeface="Calibri"/>
              </a:rPr>
              <a:t>EPS Exclusive Opportunities</a:t>
            </a:r>
            <a:r>
              <a:rPr lang="en-GB" sz="2000" dirty="0">
                <a:ea typeface="Calibri"/>
                <a:cs typeface="Calibri"/>
              </a:rPr>
              <a:t> are only open to EPS Students: refer to the video tutorial to sign up and view these. </a:t>
            </a:r>
          </a:p>
          <a:p>
            <a:endParaRPr lang="en-GB" sz="2000" dirty="0">
              <a:ea typeface="Calibri"/>
              <a:cs typeface="Calibri"/>
            </a:endParaRPr>
          </a:p>
          <a:p>
            <a:r>
              <a:rPr lang="en-GB" sz="2000" dirty="0">
                <a:ea typeface="Calibri"/>
                <a:cs typeface="Calibri"/>
              </a:rPr>
              <a:t>2. </a:t>
            </a:r>
            <a:r>
              <a:rPr lang="en-GB" sz="2000" b="1" dirty="0" err="1">
                <a:ea typeface="Calibri"/>
                <a:cs typeface="Calibri"/>
              </a:rPr>
              <a:t>GradCracker</a:t>
            </a:r>
            <a:r>
              <a:rPr lang="en-GB" sz="2000" dirty="0">
                <a:ea typeface="Calibri"/>
                <a:cs typeface="Calibri"/>
              </a:rPr>
              <a:t>: </a:t>
            </a:r>
            <a:r>
              <a:rPr lang="en-GB" sz="2000" dirty="0" err="1">
                <a:ea typeface="Calibri"/>
                <a:cs typeface="Calibri"/>
                <a:hlinkClick r:id="rId3"/>
              </a:rPr>
              <a:t>Gradcracker</a:t>
            </a:r>
            <a:r>
              <a:rPr lang="en-GB" sz="2000" dirty="0">
                <a:ea typeface="+mn-lt"/>
                <a:cs typeface="+mn-lt"/>
                <a:hlinkClick r:id="rId3"/>
              </a:rPr>
              <a:t> - Careers for STEM Students</a:t>
            </a:r>
            <a:endParaRPr lang="en-GB" sz="2000" dirty="0">
              <a:ea typeface="Calibri"/>
              <a:cs typeface="Calibri"/>
            </a:endParaRPr>
          </a:p>
          <a:p>
            <a:r>
              <a:rPr lang="en-GB" sz="2000" dirty="0">
                <a:ea typeface="Calibri"/>
                <a:cs typeface="Calibri"/>
              </a:rPr>
              <a:t>The job board for student and graduate level STEM roles. There are Summer Internships, Insight Days, Placement Years and Graduate Jobs.</a:t>
            </a:r>
          </a:p>
          <a:p>
            <a:endParaRPr lang="en-GB" sz="2000" dirty="0">
              <a:ea typeface="Calibri"/>
              <a:cs typeface="Calibri"/>
            </a:endParaRPr>
          </a:p>
          <a:p>
            <a:r>
              <a:rPr lang="en-GB" sz="2000" dirty="0">
                <a:ea typeface="Calibri"/>
                <a:cs typeface="Calibri"/>
              </a:rPr>
              <a:t>3. </a:t>
            </a:r>
            <a:r>
              <a:rPr lang="en-GB" sz="2000" b="1" dirty="0" err="1">
                <a:ea typeface="Calibri"/>
                <a:cs typeface="Calibri"/>
              </a:rPr>
              <a:t>BrightNetowrk</a:t>
            </a:r>
            <a:r>
              <a:rPr lang="en-GB" sz="2000" dirty="0">
                <a:ea typeface="Calibri"/>
                <a:cs typeface="Calibri"/>
              </a:rPr>
              <a:t>: </a:t>
            </a:r>
            <a:r>
              <a:rPr lang="en-GB" sz="2000" dirty="0">
                <a:hlinkClick r:id="rId4"/>
              </a:rPr>
              <a:t>Graduate Careers For Bright Minds | Bright Network</a:t>
            </a:r>
            <a:endParaRPr lang="en-GB" sz="2000" dirty="0">
              <a:ea typeface="Calibri"/>
              <a:cs typeface="Calibri"/>
            </a:endParaRPr>
          </a:p>
          <a:p>
            <a:r>
              <a:rPr lang="en-GB" sz="2000" dirty="0">
                <a:ea typeface="Calibri"/>
                <a:cs typeface="Calibri"/>
              </a:rPr>
              <a:t>The job board for student and graduate level STEM roles. There are Summer Internships, Insight Days, Placement Years and Graduate Jobs.</a:t>
            </a:r>
          </a:p>
          <a:p>
            <a:endParaRPr lang="en-GB" sz="2400" dirty="0">
              <a:ea typeface="Calibri"/>
              <a:cs typeface="Calibri"/>
            </a:endParaRPr>
          </a:p>
        </p:txBody>
      </p:sp>
    </p:spTree>
    <p:extLst>
      <p:ext uri="{BB962C8B-B14F-4D97-AF65-F5344CB8AC3E}">
        <p14:creationId xmlns:p14="http://schemas.microsoft.com/office/powerpoint/2010/main" val="17909700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5EA2C-386A-9C28-0D12-C6305A1CA628}"/>
            </a:ext>
          </a:extLst>
        </p:cNvPr>
        <p:cNvGrpSpPr/>
        <p:nvPr/>
      </p:nvGrpSpPr>
      <p:grpSpPr>
        <a:xfrm>
          <a:off x="0" y="0"/>
          <a:ext cx="0" cy="0"/>
          <a:chOff x="0" y="0"/>
          <a:chExt cx="0" cy="0"/>
        </a:xfrm>
      </p:grpSpPr>
      <p:sp>
        <p:nvSpPr>
          <p:cNvPr id="39" name="TextBox 38">
            <a:extLst>
              <a:ext uri="{FF2B5EF4-FFF2-40B4-BE49-F238E27FC236}">
                <a16:creationId xmlns:a16="http://schemas.microsoft.com/office/drawing/2014/main" id="{91D0B283-8394-E3A0-CF33-F29727CA7C44}"/>
              </a:ext>
            </a:extLst>
          </p:cNvPr>
          <p:cNvSpPr txBox="1"/>
          <p:nvPr/>
        </p:nvSpPr>
        <p:spPr>
          <a:xfrm>
            <a:off x="572560" y="491613"/>
            <a:ext cx="8829040" cy="584775"/>
          </a:xfrm>
          <a:prstGeom prst="rect">
            <a:avLst/>
          </a:prstGeom>
          <a:noFill/>
        </p:spPr>
        <p:txBody>
          <a:bodyPr wrap="square" lIns="91440" tIns="45720" rIns="91440" bIns="45720" anchor="t">
            <a:spAutoFit/>
          </a:bodyPr>
          <a:lstStyle/>
          <a:p>
            <a:pPr>
              <a:defRPr/>
            </a:pPr>
            <a:r>
              <a:rPr lang="en-US" sz="3200" b="1" dirty="0">
                <a:solidFill>
                  <a:srgbClr val="1E8884"/>
                </a:solidFill>
                <a:latin typeface="Aptos Black"/>
                <a:ea typeface="Calibri"/>
                <a:cs typeface="Calibri"/>
              </a:rPr>
              <a:t>Other Ways to find Opportunities </a:t>
            </a:r>
            <a:endParaRPr lang="en-US" dirty="0"/>
          </a:p>
        </p:txBody>
      </p:sp>
      <p:sp>
        <p:nvSpPr>
          <p:cNvPr id="4" name="TextBox 3">
            <a:extLst>
              <a:ext uri="{FF2B5EF4-FFF2-40B4-BE49-F238E27FC236}">
                <a16:creationId xmlns:a16="http://schemas.microsoft.com/office/drawing/2014/main" id="{A8A3BD35-701C-F7DB-9F52-58988E78D7FC}"/>
              </a:ext>
            </a:extLst>
          </p:cNvPr>
          <p:cNvSpPr txBox="1"/>
          <p:nvPr/>
        </p:nvSpPr>
        <p:spPr>
          <a:xfrm>
            <a:off x="317928" y="1228397"/>
            <a:ext cx="8829040" cy="4401205"/>
          </a:xfrm>
          <a:prstGeom prst="rect">
            <a:avLst/>
          </a:prstGeom>
          <a:noFill/>
        </p:spPr>
        <p:txBody>
          <a:bodyPr wrap="square">
            <a:spAutoFit/>
          </a:bodyPr>
          <a:lstStyle/>
          <a:p>
            <a:pPr marL="448945" indent="-227965">
              <a:lnSpc>
                <a:spcPct val="100000"/>
              </a:lnSpc>
              <a:buChar char="•"/>
              <a:tabLst>
                <a:tab pos="448945" algn="l"/>
              </a:tabLst>
            </a:pPr>
            <a:endParaRPr lang="en-GB" sz="2400" dirty="0">
              <a:solidFill>
                <a:srgbClr val="404040"/>
              </a:solidFill>
              <a:latin typeface="Arial MT"/>
              <a:cs typeface="Arial MT"/>
            </a:endParaRPr>
          </a:p>
          <a:p>
            <a:pPr marL="448945" indent="-227965">
              <a:lnSpc>
                <a:spcPct val="100000"/>
              </a:lnSpc>
              <a:buChar char="•"/>
              <a:tabLst>
                <a:tab pos="448945" algn="l"/>
              </a:tabLst>
            </a:pPr>
            <a:r>
              <a:rPr lang="en-GB" sz="2400" dirty="0">
                <a:solidFill>
                  <a:srgbClr val="404040"/>
                </a:solidFill>
                <a:latin typeface="Arial MT"/>
                <a:cs typeface="Arial MT"/>
              </a:rPr>
              <a:t>LinkedIn</a:t>
            </a:r>
            <a:r>
              <a:rPr lang="en-GB" sz="2400" spc="125" dirty="0">
                <a:solidFill>
                  <a:srgbClr val="404040"/>
                </a:solidFill>
                <a:latin typeface="Arial MT"/>
                <a:cs typeface="Arial MT"/>
              </a:rPr>
              <a:t> </a:t>
            </a:r>
            <a:r>
              <a:rPr lang="en-GB" sz="2400" dirty="0">
                <a:solidFill>
                  <a:srgbClr val="404040"/>
                </a:solidFill>
                <a:latin typeface="Arial MT"/>
                <a:cs typeface="Arial MT"/>
              </a:rPr>
              <a:t>–</a:t>
            </a:r>
            <a:r>
              <a:rPr lang="en-GB" sz="2400" spc="140" dirty="0">
                <a:solidFill>
                  <a:srgbClr val="404040"/>
                </a:solidFill>
                <a:latin typeface="Arial MT"/>
                <a:cs typeface="Arial MT"/>
              </a:rPr>
              <a:t> </a:t>
            </a:r>
            <a:r>
              <a:rPr lang="en-GB" sz="2400" dirty="0">
                <a:solidFill>
                  <a:srgbClr val="404040"/>
                </a:solidFill>
                <a:latin typeface="Arial MT"/>
                <a:cs typeface="Arial MT"/>
              </a:rPr>
              <a:t>Groups</a:t>
            </a:r>
            <a:r>
              <a:rPr lang="en-GB" sz="2400" spc="130" dirty="0">
                <a:solidFill>
                  <a:srgbClr val="404040"/>
                </a:solidFill>
                <a:latin typeface="Arial MT"/>
                <a:cs typeface="Arial MT"/>
              </a:rPr>
              <a:t> </a:t>
            </a:r>
            <a:r>
              <a:rPr lang="en-GB" sz="2400" dirty="0">
                <a:solidFill>
                  <a:srgbClr val="404040"/>
                </a:solidFill>
                <a:latin typeface="Arial MT"/>
                <a:cs typeface="Arial MT"/>
              </a:rPr>
              <a:t>and</a:t>
            </a:r>
            <a:r>
              <a:rPr lang="en-GB" sz="2400" spc="125" dirty="0">
                <a:solidFill>
                  <a:srgbClr val="404040"/>
                </a:solidFill>
                <a:latin typeface="Arial MT"/>
                <a:cs typeface="Arial MT"/>
              </a:rPr>
              <a:t> </a:t>
            </a:r>
            <a:r>
              <a:rPr lang="en-GB" sz="2400" dirty="0">
                <a:solidFill>
                  <a:srgbClr val="404040"/>
                </a:solidFill>
                <a:latin typeface="Arial MT"/>
                <a:cs typeface="Arial MT"/>
              </a:rPr>
              <a:t>alumni</a:t>
            </a:r>
            <a:r>
              <a:rPr lang="en-GB" sz="2400" spc="155" dirty="0">
                <a:solidFill>
                  <a:srgbClr val="404040"/>
                </a:solidFill>
                <a:latin typeface="Arial MT"/>
                <a:cs typeface="Arial MT"/>
              </a:rPr>
              <a:t> </a:t>
            </a:r>
            <a:r>
              <a:rPr lang="en-GB" sz="2400" spc="-20" dirty="0">
                <a:solidFill>
                  <a:srgbClr val="404040"/>
                </a:solidFill>
                <a:latin typeface="Arial MT"/>
                <a:cs typeface="Arial MT"/>
              </a:rPr>
              <a:t>tool</a:t>
            </a:r>
            <a:endParaRPr lang="en-GB" sz="2400" dirty="0">
              <a:latin typeface="Arial MT"/>
              <a:cs typeface="Arial MT"/>
            </a:endParaRPr>
          </a:p>
          <a:p>
            <a:pPr>
              <a:lnSpc>
                <a:spcPct val="100000"/>
              </a:lnSpc>
              <a:spcBef>
                <a:spcPts val="1575"/>
              </a:spcBef>
              <a:buClr>
                <a:srgbClr val="404040"/>
              </a:buClr>
            </a:pPr>
            <a:endParaRPr lang="en-GB" sz="2400" dirty="0">
              <a:latin typeface="Arial MT"/>
              <a:cs typeface="Arial MT"/>
            </a:endParaRPr>
          </a:p>
          <a:p>
            <a:pPr marL="448309" indent="-227329">
              <a:lnSpc>
                <a:spcPct val="100000"/>
              </a:lnSpc>
              <a:buChar char="•"/>
              <a:tabLst>
                <a:tab pos="448309" algn="l"/>
              </a:tabLst>
            </a:pPr>
            <a:r>
              <a:rPr lang="en-GB" sz="2400" dirty="0">
                <a:solidFill>
                  <a:srgbClr val="404040"/>
                </a:solidFill>
                <a:latin typeface="Arial MT"/>
                <a:cs typeface="Arial MT"/>
              </a:rPr>
              <a:t>Events</a:t>
            </a:r>
            <a:r>
              <a:rPr lang="en-GB" sz="2400" spc="80" dirty="0">
                <a:solidFill>
                  <a:srgbClr val="404040"/>
                </a:solidFill>
                <a:latin typeface="Arial MT"/>
                <a:cs typeface="Arial MT"/>
              </a:rPr>
              <a:t> </a:t>
            </a:r>
            <a:r>
              <a:rPr lang="en-GB" sz="2400" dirty="0">
                <a:solidFill>
                  <a:srgbClr val="404040"/>
                </a:solidFill>
                <a:latin typeface="Arial MT"/>
                <a:cs typeface="Arial MT"/>
              </a:rPr>
              <a:t>–</a:t>
            </a:r>
            <a:r>
              <a:rPr lang="en-GB" sz="2400" spc="125" dirty="0">
                <a:solidFill>
                  <a:srgbClr val="404040"/>
                </a:solidFill>
                <a:latin typeface="Arial MT"/>
                <a:cs typeface="Arial MT"/>
              </a:rPr>
              <a:t> </a:t>
            </a:r>
            <a:r>
              <a:rPr lang="en-GB" sz="2400" dirty="0">
                <a:solidFill>
                  <a:srgbClr val="404040"/>
                </a:solidFill>
                <a:latin typeface="Arial MT"/>
                <a:cs typeface="Arial MT"/>
              </a:rPr>
              <a:t>bookable</a:t>
            </a:r>
            <a:r>
              <a:rPr lang="en-GB" sz="2400" spc="105" dirty="0">
                <a:solidFill>
                  <a:srgbClr val="404040"/>
                </a:solidFill>
                <a:latin typeface="Arial MT"/>
                <a:cs typeface="Arial MT"/>
              </a:rPr>
              <a:t> </a:t>
            </a:r>
            <a:r>
              <a:rPr lang="en-GB" sz="2400" dirty="0">
                <a:solidFill>
                  <a:srgbClr val="404040"/>
                </a:solidFill>
                <a:latin typeface="Arial MT"/>
                <a:cs typeface="Arial MT"/>
              </a:rPr>
              <a:t>via</a:t>
            </a:r>
            <a:r>
              <a:rPr lang="en-GB" sz="2400" spc="185" dirty="0">
                <a:solidFill>
                  <a:srgbClr val="404040"/>
                </a:solidFill>
                <a:latin typeface="Arial MT"/>
                <a:cs typeface="Arial MT"/>
              </a:rPr>
              <a:t> </a:t>
            </a:r>
            <a:r>
              <a:rPr lang="en-GB" sz="2400" spc="-10" dirty="0" err="1">
                <a:solidFill>
                  <a:srgbClr val="404040"/>
                </a:solidFill>
                <a:latin typeface="Arial MT"/>
                <a:cs typeface="Arial MT"/>
              </a:rPr>
              <a:t>MyCareer</a:t>
            </a:r>
            <a:endParaRPr lang="en-GB" sz="2400" dirty="0">
              <a:latin typeface="Arial MT"/>
              <a:cs typeface="Arial MT"/>
            </a:endParaRPr>
          </a:p>
          <a:p>
            <a:pPr>
              <a:lnSpc>
                <a:spcPct val="100000"/>
              </a:lnSpc>
              <a:spcBef>
                <a:spcPts val="1575"/>
              </a:spcBef>
              <a:buClr>
                <a:srgbClr val="404040"/>
              </a:buClr>
              <a:buFont typeface="Arial MT"/>
              <a:buChar char="•"/>
            </a:pPr>
            <a:endParaRPr lang="en-GB" sz="2400" dirty="0">
              <a:latin typeface="Arial MT"/>
              <a:cs typeface="Arial MT"/>
            </a:endParaRPr>
          </a:p>
          <a:p>
            <a:pPr marL="448945" indent="-227965">
              <a:lnSpc>
                <a:spcPct val="100000"/>
              </a:lnSpc>
              <a:buChar char="•"/>
              <a:tabLst>
                <a:tab pos="448945" algn="l"/>
              </a:tabLst>
            </a:pPr>
            <a:r>
              <a:rPr lang="en-GB" sz="2400" dirty="0">
                <a:solidFill>
                  <a:srgbClr val="404040"/>
                </a:solidFill>
                <a:latin typeface="Arial MT"/>
                <a:cs typeface="Arial MT"/>
              </a:rPr>
              <a:t>Careers</a:t>
            </a:r>
            <a:r>
              <a:rPr lang="en-GB" sz="2400" spc="114" dirty="0">
                <a:solidFill>
                  <a:srgbClr val="404040"/>
                </a:solidFill>
                <a:latin typeface="Arial MT"/>
                <a:cs typeface="Arial MT"/>
              </a:rPr>
              <a:t> </a:t>
            </a:r>
            <a:r>
              <a:rPr lang="en-GB" sz="2400" dirty="0">
                <a:solidFill>
                  <a:srgbClr val="404040"/>
                </a:solidFill>
                <a:latin typeface="Arial MT"/>
                <a:cs typeface="Arial MT"/>
              </a:rPr>
              <a:t>Fair – STEM Fair </a:t>
            </a:r>
            <a:r>
              <a:rPr lang="en-GB" sz="2400">
                <a:solidFill>
                  <a:srgbClr val="404040"/>
                </a:solidFill>
                <a:latin typeface="Arial MT"/>
                <a:cs typeface="Arial MT"/>
              </a:rPr>
              <a:t>20</a:t>
            </a:r>
            <a:r>
              <a:rPr lang="en-GB" sz="2400" baseline="30000">
                <a:solidFill>
                  <a:srgbClr val="404040"/>
                </a:solidFill>
                <a:latin typeface="Arial MT"/>
                <a:cs typeface="Arial MT"/>
              </a:rPr>
              <a:t>th</a:t>
            </a:r>
            <a:r>
              <a:rPr lang="en-GB" sz="2400">
                <a:solidFill>
                  <a:srgbClr val="404040"/>
                </a:solidFill>
                <a:latin typeface="Arial MT"/>
                <a:cs typeface="Arial MT"/>
              </a:rPr>
              <a:t> October</a:t>
            </a:r>
            <a:endParaRPr lang="en-GB" sz="2400" dirty="0">
              <a:solidFill>
                <a:srgbClr val="404040"/>
              </a:solidFill>
              <a:latin typeface="Arial MT"/>
              <a:cs typeface="Arial MT"/>
            </a:endParaRPr>
          </a:p>
          <a:p>
            <a:pPr marL="220980">
              <a:lnSpc>
                <a:spcPct val="100000"/>
              </a:lnSpc>
              <a:tabLst>
                <a:tab pos="448945" algn="l"/>
              </a:tabLst>
            </a:pPr>
            <a:endParaRPr lang="en-GB" sz="2400" dirty="0">
              <a:latin typeface="Arial"/>
              <a:cs typeface="Arial"/>
            </a:endParaRPr>
          </a:p>
          <a:p>
            <a:pPr marL="448309" indent="-227329">
              <a:lnSpc>
                <a:spcPct val="100000"/>
              </a:lnSpc>
              <a:buChar char="•"/>
              <a:tabLst>
                <a:tab pos="448309" algn="l"/>
              </a:tabLst>
            </a:pPr>
            <a:r>
              <a:rPr lang="en-GB" sz="2400" dirty="0">
                <a:solidFill>
                  <a:srgbClr val="404040"/>
                </a:solidFill>
                <a:latin typeface="Arial MT"/>
                <a:cs typeface="Arial MT"/>
              </a:rPr>
              <a:t>Each</a:t>
            </a:r>
            <a:r>
              <a:rPr lang="en-GB" sz="2400" spc="135" dirty="0">
                <a:solidFill>
                  <a:srgbClr val="404040"/>
                </a:solidFill>
                <a:latin typeface="Arial MT"/>
                <a:cs typeface="Arial MT"/>
              </a:rPr>
              <a:t> </a:t>
            </a:r>
            <a:r>
              <a:rPr lang="en-GB" sz="2400" spc="-10" dirty="0">
                <a:solidFill>
                  <a:srgbClr val="404040"/>
                </a:solidFill>
                <a:latin typeface="Arial MT"/>
                <a:cs typeface="Arial MT"/>
              </a:rPr>
              <a:t>other!</a:t>
            </a:r>
            <a:endParaRPr lang="en-GB" sz="2400" dirty="0">
              <a:latin typeface="Arial MT"/>
              <a:cs typeface="Arial MT"/>
            </a:endParaRPr>
          </a:p>
          <a:p>
            <a:pPr>
              <a:lnSpc>
                <a:spcPct val="100000"/>
              </a:lnSpc>
              <a:spcBef>
                <a:spcPts val="1570"/>
              </a:spcBef>
              <a:buClr>
                <a:srgbClr val="404040"/>
              </a:buClr>
              <a:buFont typeface="Arial MT"/>
              <a:buChar char="•"/>
            </a:pPr>
            <a:endParaRPr lang="en-GB" sz="2400" dirty="0">
              <a:latin typeface="Arial MT"/>
              <a:cs typeface="Arial MT"/>
            </a:endParaRPr>
          </a:p>
          <a:p>
            <a:pPr marL="448945" indent="-227965">
              <a:lnSpc>
                <a:spcPct val="100000"/>
              </a:lnSpc>
              <a:spcBef>
                <a:spcPts val="5"/>
              </a:spcBef>
              <a:buChar char="•"/>
              <a:tabLst>
                <a:tab pos="448945" algn="l"/>
              </a:tabLst>
            </a:pPr>
            <a:r>
              <a:rPr lang="en-GB" sz="2400" dirty="0">
                <a:solidFill>
                  <a:srgbClr val="404040"/>
                </a:solidFill>
                <a:latin typeface="Arial MT"/>
                <a:cs typeface="Arial MT"/>
              </a:rPr>
              <a:t>Professional</a:t>
            </a:r>
            <a:r>
              <a:rPr lang="en-GB" sz="2400" spc="235" dirty="0">
                <a:solidFill>
                  <a:srgbClr val="404040"/>
                </a:solidFill>
                <a:latin typeface="Arial MT"/>
                <a:cs typeface="Arial MT"/>
              </a:rPr>
              <a:t> </a:t>
            </a:r>
            <a:r>
              <a:rPr lang="en-GB" sz="2400" spc="-10" dirty="0">
                <a:solidFill>
                  <a:srgbClr val="404040"/>
                </a:solidFill>
                <a:latin typeface="Arial MT"/>
                <a:cs typeface="Arial MT"/>
              </a:rPr>
              <a:t>Bodies</a:t>
            </a:r>
            <a:endParaRPr lang="en-GB" sz="2400" dirty="0">
              <a:latin typeface="Arial MT"/>
              <a:cs typeface="Arial MT"/>
            </a:endParaRPr>
          </a:p>
        </p:txBody>
      </p:sp>
      <p:sp>
        <p:nvSpPr>
          <p:cNvPr id="10" name="Rectangle: Rounded Corners 9">
            <a:extLst>
              <a:ext uri="{FF2B5EF4-FFF2-40B4-BE49-F238E27FC236}">
                <a16:creationId xmlns:a16="http://schemas.microsoft.com/office/drawing/2014/main" id="{F42F9478-64D5-9BC8-FF7A-622E441D5E0E}"/>
              </a:ext>
            </a:extLst>
          </p:cNvPr>
          <p:cNvSpPr/>
          <p:nvPr/>
        </p:nvSpPr>
        <p:spPr>
          <a:xfrm>
            <a:off x="7561875" y="4002683"/>
            <a:ext cx="2487353" cy="2090057"/>
          </a:xfrm>
          <a:prstGeom prst="roundRect">
            <a:avLst>
              <a:gd name="adj" fmla="val 14962"/>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b="1" dirty="0">
                <a:solidFill>
                  <a:schemeClr val="tx1"/>
                </a:solidFill>
                <a:ea typeface="Calibri"/>
                <a:cs typeface="Calibri"/>
              </a:rPr>
              <a:t>Check out Minerva for all upcoming events</a:t>
            </a:r>
          </a:p>
        </p:txBody>
      </p:sp>
      <p:sp>
        <p:nvSpPr>
          <p:cNvPr id="12" name="Rectangle: Rounded Corners 11">
            <a:extLst>
              <a:ext uri="{FF2B5EF4-FFF2-40B4-BE49-F238E27FC236}">
                <a16:creationId xmlns:a16="http://schemas.microsoft.com/office/drawing/2014/main" id="{A7137CE4-0D9F-7D30-237E-8EF5CA120A4C}"/>
              </a:ext>
            </a:extLst>
          </p:cNvPr>
          <p:cNvSpPr/>
          <p:nvPr/>
        </p:nvSpPr>
        <p:spPr>
          <a:xfrm>
            <a:off x="8895448" y="1570512"/>
            <a:ext cx="2487353" cy="2090057"/>
          </a:xfrm>
          <a:prstGeom prst="roundRect">
            <a:avLst>
              <a:gd name="adj" fmla="val 14962"/>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b="1" dirty="0">
                <a:solidFill>
                  <a:schemeClr val="tx1"/>
                </a:solidFill>
                <a:ea typeface="Calibri"/>
                <a:cs typeface="Calibri"/>
              </a:rPr>
              <a:t>Follow companies on Linked In, make Connections, use resources on Minerva for using LinkedIn</a:t>
            </a:r>
          </a:p>
        </p:txBody>
      </p:sp>
    </p:spTree>
    <p:extLst>
      <p:ext uri="{BB962C8B-B14F-4D97-AF65-F5344CB8AC3E}">
        <p14:creationId xmlns:p14="http://schemas.microsoft.com/office/powerpoint/2010/main" val="14381116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D5D7E504-4A73-48C4-BE7A-3043019353E8}"/>
              </a:ext>
            </a:extLst>
          </p:cNvPr>
          <p:cNvSpPr>
            <a:spLocks noGrp="1"/>
          </p:cNvSpPr>
          <p:nvPr>
            <p:ph type="body" sz="quarter" idx="11"/>
          </p:nvPr>
        </p:nvSpPr>
        <p:spPr>
          <a:xfrm>
            <a:off x="339454" y="551588"/>
            <a:ext cx="7759700" cy="575100"/>
          </a:xfrm>
        </p:spPr>
        <p:txBody>
          <a:bodyPr vert="horz" lIns="91440" tIns="45720" rIns="91440" bIns="45720" rtlCol="0" anchor="t">
            <a:noAutofit/>
          </a:bodyPr>
          <a:lstStyle/>
          <a:p>
            <a:r>
              <a:rPr lang="en-US" b="1" dirty="0">
                <a:solidFill>
                  <a:schemeClr val="accent5">
                    <a:lumMod val="50000"/>
                  </a:schemeClr>
                </a:solidFill>
                <a:ea typeface="+mn-lt"/>
                <a:cs typeface="+mn-lt"/>
              </a:rPr>
              <a:t>EPS Employability Team </a:t>
            </a:r>
          </a:p>
          <a:p>
            <a:endParaRPr lang="en-US" dirty="0">
              <a:solidFill>
                <a:srgbClr val="292B66"/>
              </a:solidFill>
              <a:cs typeface="Calibri"/>
            </a:endParaRPr>
          </a:p>
        </p:txBody>
      </p:sp>
      <p:sp>
        <p:nvSpPr>
          <p:cNvPr id="8" name="Line 4">
            <a:extLst>
              <a:ext uri="{FF2B5EF4-FFF2-40B4-BE49-F238E27FC236}">
                <a16:creationId xmlns:a16="http://schemas.microsoft.com/office/drawing/2014/main" id="{66CFDF58-F09A-4ED1-9465-8A78D474B091}"/>
              </a:ext>
            </a:extLst>
          </p:cNvPr>
          <p:cNvSpPr>
            <a:spLocks noChangeShapeType="1"/>
          </p:cNvSpPr>
          <p:nvPr/>
        </p:nvSpPr>
        <p:spPr bwMode="white">
          <a:xfrm flipV="1">
            <a:off x="111211" y="1294453"/>
            <a:ext cx="11948983" cy="0"/>
          </a:xfrm>
          <a:prstGeom prst="line">
            <a:avLst/>
          </a:prstGeom>
          <a:noFill/>
          <a:ln w="9525">
            <a:solidFill>
              <a:srgbClr val="4C4C4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p>
        </p:txBody>
      </p:sp>
      <p:sp>
        <p:nvSpPr>
          <p:cNvPr id="9" name="Rounded Rectangle 8"/>
          <p:cNvSpPr/>
          <p:nvPr/>
        </p:nvSpPr>
        <p:spPr>
          <a:xfrm>
            <a:off x="485499" y="4267631"/>
            <a:ext cx="9163445" cy="2482135"/>
          </a:xfrm>
          <a:prstGeom prst="roundRect">
            <a:avLst/>
          </a:prstGeom>
          <a:solidFill>
            <a:srgbClr val="178884"/>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342900" indent="-342900">
              <a:buFont typeface="Wingdings" panose="05000000000000000000" pitchFamily="2" charset="2"/>
              <a:buChar char="ü"/>
              <a:defRPr/>
            </a:pPr>
            <a:r>
              <a:rPr lang="en-GB" sz="2400" dirty="0">
                <a:solidFill>
                  <a:schemeClr val="bg1"/>
                </a:solidFill>
                <a:cs typeface="Arial"/>
              </a:rPr>
              <a:t>Support you to enhance your </a:t>
            </a:r>
            <a:r>
              <a:rPr lang="en-GB" sz="2400" b="1" dirty="0">
                <a:solidFill>
                  <a:schemeClr val="bg1"/>
                </a:solidFill>
                <a:cs typeface="Arial"/>
              </a:rPr>
              <a:t>employability</a:t>
            </a:r>
            <a:r>
              <a:rPr lang="en-GB" sz="2400" dirty="0">
                <a:solidFill>
                  <a:schemeClr val="bg1"/>
                </a:solidFill>
                <a:cs typeface="Arial"/>
              </a:rPr>
              <a:t> </a:t>
            </a:r>
            <a:r>
              <a:rPr lang="en-US" sz="2400" dirty="0">
                <a:solidFill>
                  <a:schemeClr val="bg1"/>
                </a:solidFill>
                <a:cs typeface="Arial"/>
              </a:rPr>
              <a:t>​</a:t>
            </a:r>
            <a:endParaRPr lang="en-US" sz="2400" dirty="0">
              <a:solidFill>
                <a:schemeClr val="bg1"/>
              </a:solidFill>
              <a:ea typeface="Calibri"/>
              <a:cs typeface="Arial"/>
            </a:endParaRPr>
          </a:p>
          <a:p>
            <a:pPr marL="342900" lvl="0" indent="-342900">
              <a:buFont typeface="Wingdings" panose="05000000000000000000" pitchFamily="2" charset="2"/>
              <a:buChar char="ü"/>
              <a:defRPr/>
            </a:pPr>
            <a:r>
              <a:rPr lang="en-GB" sz="2400" b="1" dirty="0">
                <a:solidFill>
                  <a:schemeClr val="bg1"/>
                </a:solidFill>
                <a:cs typeface="Arial"/>
              </a:rPr>
              <a:t>1:1 Appointments</a:t>
            </a:r>
            <a:r>
              <a:rPr lang="en-GB" sz="2400" dirty="0">
                <a:solidFill>
                  <a:schemeClr val="bg1"/>
                </a:solidFill>
                <a:cs typeface="Arial"/>
              </a:rPr>
              <a:t> in person and via Microsoft Teams</a:t>
            </a:r>
            <a:endParaRPr lang="en-GB" sz="2400" dirty="0">
              <a:solidFill>
                <a:schemeClr val="bg1"/>
              </a:solidFill>
              <a:ea typeface="Calibri"/>
              <a:cs typeface="Arial"/>
            </a:endParaRPr>
          </a:p>
          <a:p>
            <a:pPr marL="342900" indent="-342900">
              <a:buFont typeface="Wingdings" panose="05000000000000000000" pitchFamily="2" charset="2"/>
              <a:buChar char="ü"/>
              <a:defRPr/>
            </a:pPr>
            <a:r>
              <a:rPr lang="en-GB" sz="2400" dirty="0">
                <a:solidFill>
                  <a:schemeClr val="bg1"/>
                </a:solidFill>
                <a:cs typeface="Arial"/>
              </a:rPr>
              <a:t>Employer-led </a:t>
            </a:r>
            <a:r>
              <a:rPr lang="en-GB" sz="2400" b="1" dirty="0">
                <a:solidFill>
                  <a:schemeClr val="bg1"/>
                </a:solidFill>
                <a:cs typeface="Arial"/>
              </a:rPr>
              <a:t>workshops and connecting opportunities</a:t>
            </a:r>
            <a:endParaRPr lang="en-GB" sz="2400" b="1" dirty="0">
              <a:solidFill>
                <a:schemeClr val="bg1"/>
              </a:solidFill>
              <a:ea typeface="Calibri"/>
              <a:cs typeface="Arial"/>
            </a:endParaRPr>
          </a:p>
          <a:p>
            <a:pPr marL="342900" lvl="0" indent="-342900">
              <a:buFont typeface="Wingdings" panose="05000000000000000000" pitchFamily="2" charset="2"/>
              <a:buChar char="ü"/>
              <a:defRPr/>
            </a:pPr>
            <a:r>
              <a:rPr lang="en-GB" sz="2400" dirty="0">
                <a:solidFill>
                  <a:schemeClr val="bg1"/>
                </a:solidFill>
                <a:cs typeface="Arial"/>
              </a:rPr>
              <a:t>Opportunities </a:t>
            </a:r>
            <a:r>
              <a:rPr lang="en-GB" sz="2400" b="1" dirty="0">
                <a:solidFill>
                  <a:schemeClr val="bg1"/>
                </a:solidFill>
                <a:cs typeface="Arial"/>
              </a:rPr>
              <a:t>newsletters</a:t>
            </a:r>
            <a:r>
              <a:rPr lang="en-GB" sz="2400" dirty="0">
                <a:solidFill>
                  <a:schemeClr val="bg1"/>
                </a:solidFill>
                <a:cs typeface="Arial"/>
              </a:rPr>
              <a:t> </a:t>
            </a:r>
            <a:endParaRPr lang="en-GB" sz="2400" dirty="0">
              <a:solidFill>
                <a:schemeClr val="bg1"/>
              </a:solidFill>
              <a:ea typeface="Calibri"/>
              <a:cs typeface="Arial"/>
            </a:endParaRPr>
          </a:p>
          <a:p>
            <a:pPr marL="342900" indent="-342900">
              <a:buFont typeface="Wingdings" panose="05000000000000000000" pitchFamily="2" charset="2"/>
              <a:buChar char="ü"/>
              <a:defRPr/>
            </a:pPr>
            <a:r>
              <a:rPr lang="en-GB" sz="2400" dirty="0">
                <a:solidFill>
                  <a:schemeClr val="bg1"/>
                </a:solidFill>
                <a:cs typeface="Arial"/>
              </a:rPr>
              <a:t>Source </a:t>
            </a:r>
            <a:r>
              <a:rPr lang="en-GB" sz="2400" b="1" dirty="0">
                <a:solidFill>
                  <a:schemeClr val="bg1"/>
                </a:solidFill>
                <a:cs typeface="Arial"/>
              </a:rPr>
              <a:t>exclusive vacancies</a:t>
            </a:r>
            <a:endParaRPr lang="en-GB" sz="2400" b="1" dirty="0">
              <a:solidFill>
                <a:schemeClr val="bg1"/>
              </a:solidFill>
              <a:ea typeface="Calibri"/>
              <a:cs typeface="Arial"/>
            </a:endParaRPr>
          </a:p>
        </p:txBody>
      </p:sp>
      <p:sp>
        <p:nvSpPr>
          <p:cNvPr id="6" name="TextBox 5">
            <a:extLst>
              <a:ext uri="{FF2B5EF4-FFF2-40B4-BE49-F238E27FC236}">
                <a16:creationId xmlns:a16="http://schemas.microsoft.com/office/drawing/2014/main" id="{343B373E-C140-CCA4-C7B2-0AD2BFBAE0A0}"/>
              </a:ext>
            </a:extLst>
          </p:cNvPr>
          <p:cNvSpPr txBox="1"/>
          <p:nvPr/>
        </p:nvSpPr>
        <p:spPr>
          <a:xfrm>
            <a:off x="489454" y="1535575"/>
            <a:ext cx="9159490" cy="2503380"/>
          </a:xfrm>
          <a:prstGeom prst="roundRect">
            <a:avLst/>
          </a:prstGeom>
          <a:noFill/>
          <a:ln w="57150">
            <a:solidFill>
              <a:schemeClr val="accent2"/>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GB" sz="1600" b="1" dirty="0">
                <a:solidFill>
                  <a:schemeClr val="accent2"/>
                </a:solidFill>
                <a:latin typeface="Arial"/>
                <a:cs typeface="Segoe UI"/>
              </a:rPr>
              <a:t>Find Us:</a:t>
            </a:r>
            <a:r>
              <a:rPr lang="en-GB" sz="1600" dirty="0">
                <a:latin typeface="Arial"/>
                <a:cs typeface="Segoe UI"/>
              </a:rPr>
              <a:t> </a:t>
            </a:r>
            <a:r>
              <a:rPr lang="en-GB" sz="1600" dirty="0">
                <a:solidFill>
                  <a:srgbClr val="126866"/>
                </a:solidFill>
                <a:latin typeface="Arial"/>
                <a:cs typeface="Segoe UI"/>
              </a:rPr>
              <a:t>Visit the EPS Employability Suite, 1.51 in Mechanical Engineering</a:t>
            </a:r>
            <a:r>
              <a:rPr lang="en-US" sz="1600" dirty="0">
                <a:latin typeface="Arial"/>
                <a:cs typeface="Segoe UI"/>
              </a:rPr>
              <a:t>​</a:t>
            </a:r>
            <a:endParaRPr lang="en-US" sz="1600" dirty="0">
              <a:ea typeface="Calibri"/>
              <a:cs typeface="Calibri"/>
            </a:endParaRPr>
          </a:p>
          <a:p>
            <a:pPr>
              <a:lnSpc>
                <a:spcPct val="150000"/>
              </a:lnSpc>
            </a:pPr>
            <a:r>
              <a:rPr lang="en-GB" sz="1600" b="1" dirty="0">
                <a:solidFill>
                  <a:schemeClr val="accent2"/>
                </a:solidFill>
                <a:latin typeface="Arial"/>
                <a:cs typeface="Segoe UI"/>
              </a:rPr>
              <a:t>Drop In: </a:t>
            </a:r>
            <a:r>
              <a:rPr lang="en-GB" sz="1600" dirty="0">
                <a:solidFill>
                  <a:srgbClr val="126866"/>
                </a:solidFill>
                <a:latin typeface="Arial"/>
                <a:cs typeface="Segoe UI"/>
              </a:rPr>
              <a:t>12pm-2pm Wednesday and Thursday </a:t>
            </a:r>
            <a:endParaRPr lang="en-GB" sz="1600" b="1" dirty="0">
              <a:solidFill>
                <a:schemeClr val="accent2"/>
              </a:solidFill>
              <a:latin typeface="Arial"/>
              <a:cs typeface="Segoe UI"/>
            </a:endParaRPr>
          </a:p>
          <a:p>
            <a:pPr>
              <a:lnSpc>
                <a:spcPct val="150000"/>
              </a:lnSpc>
            </a:pPr>
            <a:r>
              <a:rPr lang="en-GB" sz="1600" b="1" dirty="0">
                <a:solidFill>
                  <a:schemeClr val="accent2"/>
                </a:solidFill>
                <a:latin typeface="Arial"/>
                <a:cs typeface="Segoe UI"/>
              </a:rPr>
              <a:t>Email Us:</a:t>
            </a:r>
            <a:r>
              <a:rPr lang="en-GB" sz="1600" b="1" dirty="0">
                <a:latin typeface="Arial"/>
                <a:cs typeface="Segoe UI"/>
              </a:rPr>
              <a:t> </a:t>
            </a:r>
            <a:r>
              <a:rPr lang="en-GB" sz="1600" u="sng" dirty="0">
                <a:solidFill>
                  <a:srgbClr val="126866"/>
                </a:solidFill>
                <a:latin typeface="Arial"/>
                <a:cs typeface="Segoe UI"/>
                <a:hlinkClick r:id="rId3">
                  <a:extLst>
                    <a:ext uri="{A12FA001-AC4F-418D-AE19-62706E023703}">
                      <ahyp:hlinkClr xmlns:ahyp="http://schemas.microsoft.com/office/drawing/2018/hyperlinkcolor" val="tx"/>
                    </a:ext>
                  </a:extLst>
                </a:hlinkClick>
              </a:rPr>
              <a:t>EPSemployability@leeds.ac.uk</a:t>
            </a:r>
            <a:r>
              <a:rPr lang="en-GB" sz="1600" dirty="0">
                <a:solidFill>
                  <a:srgbClr val="126866"/>
                </a:solidFill>
                <a:latin typeface="Arial"/>
                <a:cs typeface="Segoe UI"/>
              </a:rPr>
              <a:t>​</a:t>
            </a:r>
            <a:endParaRPr lang="en-GB" sz="1600" dirty="0">
              <a:cs typeface="Arial"/>
            </a:endParaRPr>
          </a:p>
          <a:p>
            <a:pPr>
              <a:lnSpc>
                <a:spcPct val="150000"/>
              </a:lnSpc>
            </a:pPr>
            <a:r>
              <a:rPr lang="en-GB" sz="1600" dirty="0">
                <a:latin typeface="Arial"/>
                <a:cs typeface="Segoe UI"/>
              </a:rPr>
              <a:t>​</a:t>
            </a:r>
            <a:r>
              <a:rPr lang="en-GB" sz="1600" b="1" dirty="0">
                <a:solidFill>
                  <a:schemeClr val="accent2"/>
                </a:solidFill>
                <a:latin typeface="Arial"/>
                <a:cs typeface="Segoe UI"/>
              </a:rPr>
              <a:t>Book Appointments, Find Events &amp; Search for Opportunities:</a:t>
            </a:r>
            <a:r>
              <a:rPr lang="en-GB" sz="1600" b="1" dirty="0">
                <a:latin typeface="Arial"/>
                <a:cs typeface="Segoe UI"/>
              </a:rPr>
              <a:t> </a:t>
            </a:r>
            <a:r>
              <a:rPr lang="en-GB" sz="1600" u="sng" dirty="0" err="1">
                <a:solidFill>
                  <a:srgbClr val="126866"/>
                </a:solidFill>
                <a:latin typeface="Arial"/>
                <a:cs typeface="Segoe UI"/>
                <a:hlinkClick r:id="rId4">
                  <a:extLst>
                    <a:ext uri="{A12FA001-AC4F-418D-AE19-62706E023703}">
                      <ahyp:hlinkClr xmlns:ahyp="http://schemas.microsoft.com/office/drawing/2018/hyperlinkcolor" val="tx"/>
                    </a:ext>
                  </a:extLst>
                </a:hlinkClick>
              </a:rPr>
              <a:t>MyCareer</a:t>
            </a:r>
            <a:r>
              <a:rPr lang="en-GB" sz="1600" dirty="0">
                <a:solidFill>
                  <a:srgbClr val="126866"/>
                </a:solidFill>
                <a:latin typeface="Arial"/>
                <a:cs typeface="Segoe UI"/>
              </a:rPr>
              <a:t> </a:t>
            </a:r>
            <a:r>
              <a:rPr lang="en-US" sz="1600" dirty="0">
                <a:solidFill>
                  <a:srgbClr val="126866"/>
                </a:solidFill>
                <a:latin typeface="Arial"/>
                <a:cs typeface="Segoe UI"/>
              </a:rPr>
              <a:t>​</a:t>
            </a:r>
          </a:p>
          <a:p>
            <a:pPr>
              <a:lnSpc>
                <a:spcPct val="150000"/>
              </a:lnSpc>
            </a:pPr>
            <a:r>
              <a:rPr lang="en-GB" sz="1600" dirty="0">
                <a:latin typeface="Arial"/>
                <a:cs typeface="Segoe UI"/>
              </a:rPr>
              <a:t>​</a:t>
            </a:r>
            <a:r>
              <a:rPr lang="en-GB" sz="1600" b="1" dirty="0">
                <a:solidFill>
                  <a:schemeClr val="accent2"/>
                </a:solidFill>
                <a:latin typeface="Arial"/>
                <a:cs typeface="Segoe UI"/>
              </a:rPr>
              <a:t>Resources &amp; Information:</a:t>
            </a:r>
            <a:r>
              <a:rPr lang="en-GB" sz="1600" dirty="0">
                <a:solidFill>
                  <a:srgbClr val="178884"/>
                </a:solidFill>
                <a:latin typeface="Arial"/>
                <a:cs typeface="Segoe UI"/>
              </a:rPr>
              <a:t> Available on </a:t>
            </a:r>
            <a:r>
              <a:rPr lang="en-GB" sz="1600" dirty="0">
                <a:solidFill>
                  <a:srgbClr val="178884"/>
                </a:solidFill>
                <a:latin typeface="Arial"/>
                <a:cs typeface="Segoe UI"/>
                <a:hlinkClick r:id="rId5">
                  <a:extLst>
                    <a:ext uri="{A12FA001-AC4F-418D-AE19-62706E023703}">
                      <ahyp:hlinkClr xmlns:ahyp="http://schemas.microsoft.com/office/drawing/2018/hyperlinkcolor" val="tx"/>
                    </a:ext>
                  </a:extLst>
                </a:hlinkClick>
              </a:rPr>
              <a:t>Minerva</a:t>
            </a:r>
            <a:r>
              <a:rPr lang="en-GB" sz="1600" dirty="0">
                <a:solidFill>
                  <a:srgbClr val="178884"/>
                </a:solidFill>
                <a:latin typeface="Arial"/>
                <a:cs typeface="Segoe UI"/>
              </a:rPr>
              <a:t> Organisation</a:t>
            </a:r>
          </a:p>
          <a:p>
            <a:pPr>
              <a:lnSpc>
                <a:spcPct val="150000"/>
              </a:lnSpc>
            </a:pPr>
            <a:r>
              <a:rPr lang="en-GB" sz="1600" b="1" dirty="0">
                <a:solidFill>
                  <a:schemeClr val="accent2"/>
                </a:solidFill>
                <a:cs typeface="Segoe UI"/>
              </a:rPr>
              <a:t>Senior Officers: </a:t>
            </a:r>
            <a:r>
              <a:rPr lang="en-GB" sz="1600" dirty="0">
                <a:solidFill>
                  <a:srgbClr val="178884"/>
                </a:solidFill>
                <a:cs typeface="Segoe UI"/>
              </a:rPr>
              <a:t>Nicola Oliver, Lynn Johnson, Katie Thorley</a:t>
            </a:r>
          </a:p>
        </p:txBody>
      </p:sp>
      <p:pic>
        <p:nvPicPr>
          <p:cNvPr id="3" name="Picture 2" descr="A glass door with a sign on it&#10;&#10;AI-generated content may be incorrect.">
            <a:extLst>
              <a:ext uri="{FF2B5EF4-FFF2-40B4-BE49-F238E27FC236}">
                <a16:creationId xmlns:a16="http://schemas.microsoft.com/office/drawing/2014/main" id="{AF6D5DBF-0E02-F74F-7B9D-1D2D7005B60F}"/>
              </a:ext>
            </a:extLst>
          </p:cNvPr>
          <p:cNvPicPr>
            <a:picLocks noChangeAspect="1"/>
          </p:cNvPicPr>
          <p:nvPr/>
        </p:nvPicPr>
        <p:blipFill>
          <a:blip r:embed="rId6"/>
          <a:stretch>
            <a:fillRect/>
          </a:stretch>
        </p:blipFill>
        <p:spPr>
          <a:xfrm>
            <a:off x="9785473" y="2145690"/>
            <a:ext cx="2409825" cy="3152775"/>
          </a:xfrm>
          <a:prstGeom prst="rect">
            <a:avLst/>
          </a:prstGeom>
        </p:spPr>
      </p:pic>
    </p:spTree>
    <p:extLst>
      <p:ext uri="{BB962C8B-B14F-4D97-AF65-F5344CB8AC3E}">
        <p14:creationId xmlns:p14="http://schemas.microsoft.com/office/powerpoint/2010/main" val="39125719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8348F-4D69-D8F7-E2C6-56D37731CDDE}"/>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E49B4681-F9F5-AB99-F078-3928A71E0B2E}"/>
              </a:ext>
            </a:extLst>
          </p:cNvPr>
          <p:cNvSpPr>
            <a:spLocks noGrp="1"/>
          </p:cNvSpPr>
          <p:nvPr>
            <p:ph type="body" sz="quarter" idx="11"/>
          </p:nvPr>
        </p:nvSpPr>
        <p:spPr/>
        <p:txBody>
          <a:bodyPr/>
          <a:lstStyle/>
          <a:p>
            <a:r>
              <a:rPr lang="en-GB" dirty="0"/>
              <a:t>Next Steps</a:t>
            </a:r>
          </a:p>
        </p:txBody>
      </p:sp>
      <p:sp>
        <p:nvSpPr>
          <p:cNvPr id="5" name="Rounded Rectangle 8">
            <a:extLst>
              <a:ext uri="{FF2B5EF4-FFF2-40B4-BE49-F238E27FC236}">
                <a16:creationId xmlns:a16="http://schemas.microsoft.com/office/drawing/2014/main" id="{1DC533BF-E1E8-55AA-0DFB-9CE4D27E648E}"/>
              </a:ext>
            </a:extLst>
          </p:cNvPr>
          <p:cNvSpPr>
            <a:spLocks noGrp="1"/>
          </p:cNvSpPr>
          <p:nvPr>
            <p:ph type="body" sz="quarter" idx="10"/>
          </p:nvPr>
        </p:nvSpPr>
        <p:spPr>
          <a:xfrm>
            <a:off x="452968" y="1453897"/>
            <a:ext cx="8837645" cy="4480560"/>
          </a:xfrm>
          <a:prstGeom prst="roundRect">
            <a:avLst/>
          </a:prstGeom>
          <a:solidFill>
            <a:srgbClr val="178884"/>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457200" indent="-457200">
              <a:lnSpc>
                <a:spcPct val="150000"/>
              </a:lnSpc>
              <a:buFont typeface="+mj-lt"/>
              <a:buAutoNum type="arabicPeriod"/>
            </a:pPr>
            <a:r>
              <a:rPr lang="en-GB" sz="2500" dirty="0">
                <a:solidFill>
                  <a:schemeClr val="bg1"/>
                </a:solidFill>
                <a:cs typeface="Arial"/>
              </a:rPr>
              <a:t>Log onto </a:t>
            </a:r>
            <a:r>
              <a:rPr lang="en-GB" sz="2500" dirty="0" err="1">
                <a:solidFill>
                  <a:schemeClr val="bg1"/>
                </a:solidFill>
                <a:cs typeface="Arial"/>
              </a:rPr>
              <a:t>MyCareer</a:t>
            </a:r>
            <a:r>
              <a:rPr lang="en-GB" sz="2500" dirty="0">
                <a:solidFill>
                  <a:schemeClr val="bg1"/>
                </a:solidFill>
                <a:cs typeface="Arial"/>
              </a:rPr>
              <a:t> </a:t>
            </a:r>
          </a:p>
          <a:p>
            <a:pPr marL="457200" indent="-457200">
              <a:lnSpc>
                <a:spcPct val="150000"/>
              </a:lnSpc>
              <a:buFont typeface="+mj-lt"/>
              <a:buAutoNum type="arabicPeriod"/>
            </a:pPr>
            <a:r>
              <a:rPr lang="en-GB" sz="2500" dirty="0">
                <a:solidFill>
                  <a:schemeClr val="bg1"/>
                </a:solidFill>
                <a:cs typeface="Arial"/>
              </a:rPr>
              <a:t>Familiarise yourself with Minerva resources</a:t>
            </a:r>
          </a:p>
          <a:p>
            <a:pPr marL="457200" indent="-457200">
              <a:lnSpc>
                <a:spcPct val="150000"/>
              </a:lnSpc>
              <a:buFont typeface="+mj-lt"/>
              <a:buAutoNum type="arabicPeriod"/>
            </a:pPr>
            <a:r>
              <a:rPr lang="en-GB" sz="2500" dirty="0">
                <a:solidFill>
                  <a:schemeClr val="bg1"/>
                </a:solidFill>
                <a:cs typeface="Arial"/>
              </a:rPr>
              <a:t>Book a 1-2-1 appointment with us</a:t>
            </a:r>
          </a:p>
          <a:p>
            <a:pPr marL="457200" indent="-457200">
              <a:lnSpc>
                <a:spcPct val="150000"/>
              </a:lnSpc>
              <a:buFont typeface="+mj-lt"/>
              <a:buAutoNum type="arabicPeriod"/>
            </a:pPr>
            <a:r>
              <a:rPr lang="en-GB" sz="2500" dirty="0">
                <a:solidFill>
                  <a:schemeClr val="bg1"/>
                </a:solidFill>
                <a:cs typeface="Arial"/>
              </a:rPr>
              <a:t>Attend the October STEM Fair</a:t>
            </a:r>
          </a:p>
          <a:p>
            <a:pPr marL="457200" indent="-457200">
              <a:lnSpc>
                <a:spcPct val="150000"/>
              </a:lnSpc>
              <a:buFont typeface="+mj-lt"/>
              <a:buAutoNum type="arabicPeriod"/>
            </a:pPr>
            <a:endParaRPr lang="en-GB" sz="2500" dirty="0">
              <a:solidFill>
                <a:schemeClr val="bg1"/>
              </a:solidFill>
              <a:cs typeface="Arial"/>
            </a:endParaRPr>
          </a:p>
          <a:p>
            <a:pPr marL="457200" indent="-457200">
              <a:lnSpc>
                <a:spcPct val="150000"/>
              </a:lnSpc>
              <a:buFont typeface="+mj-lt"/>
              <a:buAutoNum type="arabicPeriod"/>
            </a:pPr>
            <a:endParaRPr lang="en-GB" sz="1000" dirty="0">
              <a:latin typeface="Arial"/>
              <a:cs typeface="Arial"/>
            </a:endParaRPr>
          </a:p>
          <a:p>
            <a:pPr marL="457200" indent="-457200">
              <a:lnSpc>
                <a:spcPct val="150000"/>
              </a:lnSpc>
              <a:buFont typeface="+mj-lt"/>
              <a:buAutoNum type="arabicPeriod"/>
            </a:pPr>
            <a:endParaRPr lang="en-GB" sz="1000" dirty="0">
              <a:latin typeface="Arial"/>
              <a:cs typeface="Arial"/>
            </a:endParaRPr>
          </a:p>
        </p:txBody>
      </p:sp>
    </p:spTree>
    <p:extLst>
      <p:ext uri="{BB962C8B-B14F-4D97-AF65-F5344CB8AC3E}">
        <p14:creationId xmlns:p14="http://schemas.microsoft.com/office/powerpoint/2010/main" val="15927313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E03C769-3DD6-4487-849F-59F6BD24DD56}"/>
              </a:ext>
            </a:extLst>
          </p:cNvPr>
          <p:cNvSpPr>
            <a:spLocks noGrp="1"/>
          </p:cNvSpPr>
          <p:nvPr>
            <p:ph type="body" sz="quarter" idx="12"/>
          </p:nvPr>
        </p:nvSpPr>
        <p:spPr>
          <a:xfrm>
            <a:off x="480978" y="2735930"/>
            <a:ext cx="7122090" cy="3226777"/>
          </a:xfrm>
        </p:spPr>
        <p:txBody>
          <a:bodyPr lIns="91440" tIns="45720" rIns="91440" bIns="45720" anchor="t"/>
          <a:lstStyle/>
          <a:p>
            <a:r>
              <a:rPr lang="en-GB" sz="2800">
                <a:latin typeface="Arial"/>
                <a:cs typeface="Arial"/>
              </a:rPr>
              <a:t>20 October 2026 </a:t>
            </a:r>
            <a:r>
              <a:rPr lang="en-GB" sz="2800">
                <a:solidFill>
                  <a:srgbClr val="178785"/>
                </a:solidFill>
                <a:latin typeface="Arial"/>
                <a:cs typeface="Arial"/>
              </a:rPr>
              <a:t>| </a:t>
            </a:r>
            <a:r>
              <a:rPr lang="en-GB" sz="2800">
                <a:latin typeface="Arial"/>
                <a:cs typeface="Arial"/>
              </a:rPr>
              <a:t>11 am – 3 pm</a:t>
            </a:r>
            <a:r>
              <a:rPr lang="en-GB" sz="2800" b="0">
                <a:latin typeface="Arial"/>
                <a:cs typeface="Arial"/>
              </a:rPr>
              <a:t> </a:t>
            </a:r>
            <a:endParaRPr lang="en-GB" sz="2800" b="0"/>
          </a:p>
          <a:p>
            <a:r>
              <a:rPr lang="en-GB" sz="2800">
                <a:latin typeface="Arial"/>
                <a:cs typeface="Arial"/>
              </a:rPr>
              <a:t>The Edge Sports and Exhibition Centre </a:t>
            </a:r>
            <a:endParaRPr lang="en-GB" sz="2800"/>
          </a:p>
          <a:p>
            <a:pPr lvl="0"/>
            <a:endParaRPr lang="en-GB" sz="1600"/>
          </a:p>
          <a:p>
            <a:r>
              <a:rPr lang="en-GB" sz="2400" i="1">
                <a:solidFill>
                  <a:srgbClr val="292B63"/>
                </a:solidFill>
                <a:latin typeface="Arial"/>
                <a:cs typeface="Arial"/>
              </a:rPr>
              <a:t>This is your chance to connect with more than 100 local, national, and international STEM employers with opportunities for you! </a:t>
            </a:r>
            <a:endParaRPr lang="en-GB" sz="2400" b="0" i="1">
              <a:solidFill>
                <a:srgbClr val="292B63"/>
              </a:solidFill>
              <a:highlight>
                <a:srgbClr val="F9FAFA"/>
              </a:highlight>
              <a:latin typeface="Poppins"/>
              <a:cs typeface="Poppins"/>
            </a:endParaRPr>
          </a:p>
          <a:p>
            <a:endParaRPr lang="en-GB"/>
          </a:p>
        </p:txBody>
      </p:sp>
      <p:sp>
        <p:nvSpPr>
          <p:cNvPr id="3" name="Text Placeholder 1">
            <a:extLst>
              <a:ext uri="{FF2B5EF4-FFF2-40B4-BE49-F238E27FC236}">
                <a16:creationId xmlns:a16="http://schemas.microsoft.com/office/drawing/2014/main" id="{19264CEC-E561-0AE9-F92A-5FE81A4F636E}"/>
              </a:ext>
            </a:extLst>
          </p:cNvPr>
          <p:cNvSpPr txBox="1">
            <a:spLocks/>
          </p:cNvSpPr>
          <p:nvPr/>
        </p:nvSpPr>
        <p:spPr>
          <a:xfrm>
            <a:off x="480653" y="1668967"/>
            <a:ext cx="7131945" cy="595342"/>
          </a:xfrm>
          <a:prstGeom prst="rect">
            <a:avLst/>
          </a:prstGeom>
          <a:noFill/>
          <a:ln>
            <a:noFill/>
          </a:ln>
        </p:spPr>
        <p:txBody>
          <a:bodyPr lIns="91440" tIns="45720" rIns="91440" bIns="45720" anchor="t"/>
          <a:lstStyle>
            <a:lvl1pPr marL="0" indent="0" algn="l" defTabSz="914400" rtl="0" eaLnBrk="1" latinLnBrk="0" hangingPunct="1">
              <a:lnSpc>
                <a:spcPct val="90000"/>
              </a:lnSpc>
              <a:spcBef>
                <a:spcPts val="1000"/>
              </a:spcBef>
              <a:buFont typeface="Arial" panose="020B0604020202020204" pitchFamily="34" charset="0"/>
              <a:buNone/>
              <a:defRPr sz="4000" b="1"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3600" b="1"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3200" b="1"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2800" b="1"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2800" b="1"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6000" u="sng">
                <a:solidFill>
                  <a:srgbClr val="178785"/>
                </a:solidFill>
                <a:latin typeface="Arial"/>
                <a:cs typeface="Arial"/>
              </a:rPr>
              <a:t>STEM FAIR 2026</a:t>
            </a:r>
            <a:endParaRPr lang="en-GB" sz="6000" u="sng">
              <a:solidFill>
                <a:srgbClr val="178785"/>
              </a:solidFill>
            </a:endParaRPr>
          </a:p>
          <a:p>
            <a:endParaRPr lang="en-GB" sz="2400" b="0">
              <a:solidFill>
                <a:srgbClr val="000000"/>
              </a:solidFill>
            </a:endParaRPr>
          </a:p>
          <a:p>
            <a:endParaRPr lang="en-GB">
              <a:solidFill>
                <a:srgbClr val="000000"/>
              </a:solidFill>
            </a:endParaRPr>
          </a:p>
        </p:txBody>
      </p:sp>
      <p:pic>
        <p:nvPicPr>
          <p:cNvPr id="4" name="Picture 3">
            <a:extLst>
              <a:ext uri="{FF2B5EF4-FFF2-40B4-BE49-F238E27FC236}">
                <a16:creationId xmlns:a16="http://schemas.microsoft.com/office/drawing/2014/main" id="{FA3FAD61-D8FA-54B1-1D3D-20D5001D3AB6}"/>
              </a:ext>
            </a:extLst>
          </p:cNvPr>
          <p:cNvPicPr>
            <a:picLocks noChangeAspect="1"/>
          </p:cNvPicPr>
          <p:nvPr/>
        </p:nvPicPr>
        <p:blipFill>
          <a:blip r:embed="rId2"/>
          <a:stretch>
            <a:fillRect/>
          </a:stretch>
        </p:blipFill>
        <p:spPr>
          <a:xfrm>
            <a:off x="8205107" y="1673677"/>
            <a:ext cx="3510644" cy="3524251"/>
          </a:xfrm>
          <a:prstGeom prst="rect">
            <a:avLst/>
          </a:prstGeom>
        </p:spPr>
      </p:pic>
    </p:spTree>
    <p:extLst>
      <p:ext uri="{BB962C8B-B14F-4D97-AF65-F5344CB8AC3E}">
        <p14:creationId xmlns:p14="http://schemas.microsoft.com/office/powerpoint/2010/main" val="28804631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E03C769-3DD6-4487-849F-59F6BD24DD56}"/>
              </a:ext>
            </a:extLst>
          </p:cNvPr>
          <p:cNvSpPr>
            <a:spLocks noGrp="1"/>
          </p:cNvSpPr>
          <p:nvPr>
            <p:ph type="body" sz="quarter" idx="12"/>
          </p:nvPr>
        </p:nvSpPr>
        <p:spPr>
          <a:xfrm>
            <a:off x="452008" y="1582834"/>
            <a:ext cx="8278697" cy="3226777"/>
          </a:xfrm>
        </p:spPr>
        <p:txBody>
          <a:bodyPr lIns="91440" tIns="45720" rIns="91440" bIns="45720" anchor="t"/>
          <a:lstStyle/>
          <a:p>
            <a:endParaRPr lang="en-GB" sz="1100"/>
          </a:p>
          <a:p>
            <a:r>
              <a:rPr lang="en-GB" sz="2400"/>
              <a:t>Applications for 2027 are open now. </a:t>
            </a:r>
          </a:p>
          <a:p>
            <a:r>
              <a:rPr lang="en-GB" sz="2400">
                <a:latin typeface="Arial"/>
                <a:cs typeface="Arial"/>
              </a:rPr>
              <a:t>Book your place TODAY so you can learn how to: </a:t>
            </a:r>
          </a:p>
          <a:p>
            <a:pPr marL="285750" lvl="0" indent="-285750">
              <a:buFont typeface="Arial" panose="020B0604020202020204" pitchFamily="34" charset="0"/>
              <a:buChar char="•"/>
            </a:pPr>
            <a:r>
              <a:rPr lang="en-GB" sz="2400" b="0"/>
              <a:t>Stand out to employers </a:t>
            </a:r>
          </a:p>
          <a:p>
            <a:pPr marL="285750" lvl="0" indent="-285750">
              <a:buFont typeface="Arial" panose="020B0604020202020204" pitchFamily="34" charset="0"/>
              <a:buChar char="•"/>
            </a:pPr>
            <a:r>
              <a:rPr lang="en-GB" sz="2400" b="0"/>
              <a:t>Find opportunities</a:t>
            </a:r>
          </a:p>
          <a:p>
            <a:pPr marL="285750" lvl="0" indent="-285750">
              <a:buFont typeface="Arial" panose="020B0604020202020204" pitchFamily="34" charset="0"/>
              <a:buChar char="•"/>
            </a:pPr>
            <a:r>
              <a:rPr lang="en-GB" sz="2400" b="0">
                <a:latin typeface="Arial"/>
                <a:cs typeface="Arial"/>
              </a:rPr>
              <a:t>Access exclusive MyCareer vacancies </a:t>
            </a:r>
          </a:p>
          <a:p>
            <a:pPr marL="285750" lvl="0" indent="-285750">
              <a:buFont typeface="Arial" panose="020B0604020202020204" pitchFamily="34" charset="0"/>
              <a:buChar char="•"/>
            </a:pPr>
            <a:r>
              <a:rPr lang="en-GB" sz="2400" b="0"/>
              <a:t>Use resources/support effectively </a:t>
            </a:r>
          </a:p>
          <a:p>
            <a:pPr lvl="0"/>
            <a:endParaRPr lang="en-GB" sz="600" b="0"/>
          </a:p>
          <a:p>
            <a:r>
              <a:rPr lang="en-GB" sz="2400">
                <a:solidFill>
                  <a:srgbClr val="178785"/>
                </a:solidFill>
                <a:latin typeface="Arial"/>
                <a:cs typeface="Arial"/>
              </a:rPr>
              <a:t>Available dates: </a:t>
            </a:r>
            <a:endParaRPr lang="en-GB" sz="2400" b="0">
              <a:solidFill>
                <a:srgbClr val="000000"/>
              </a:solidFill>
              <a:latin typeface="Arial"/>
              <a:cs typeface="Arial"/>
            </a:endParaRPr>
          </a:p>
          <a:p>
            <a:r>
              <a:rPr lang="en-GB" sz="2400">
                <a:solidFill>
                  <a:srgbClr val="178785"/>
                </a:solidFill>
                <a:latin typeface="Arial"/>
                <a:cs typeface="Arial"/>
              </a:rPr>
              <a:t>12 Oct, 2-3pm | 14 Oct, 11am-12noon | 16th Oct, 1-2pm</a:t>
            </a:r>
            <a:endParaRPr lang="en-GB" sz="2400">
              <a:latin typeface="Arial"/>
              <a:cs typeface="Arial"/>
            </a:endParaRPr>
          </a:p>
          <a:p>
            <a:pPr lvl="0"/>
            <a:endParaRPr lang="en-GB" sz="2400" b="0"/>
          </a:p>
          <a:p>
            <a:endParaRPr lang="en-GB"/>
          </a:p>
        </p:txBody>
      </p:sp>
      <p:sp>
        <p:nvSpPr>
          <p:cNvPr id="3" name="Text Placeholder 1">
            <a:extLst>
              <a:ext uri="{FF2B5EF4-FFF2-40B4-BE49-F238E27FC236}">
                <a16:creationId xmlns:a16="http://schemas.microsoft.com/office/drawing/2014/main" id="{19264CEC-E561-0AE9-F92A-5FE81A4F636E}"/>
              </a:ext>
            </a:extLst>
          </p:cNvPr>
          <p:cNvSpPr txBox="1">
            <a:spLocks/>
          </p:cNvSpPr>
          <p:nvPr/>
        </p:nvSpPr>
        <p:spPr>
          <a:xfrm>
            <a:off x="453439" y="1301575"/>
            <a:ext cx="12615623" cy="554521"/>
          </a:xfrm>
          <a:prstGeom prst="rect">
            <a:avLst/>
          </a:prstGeom>
          <a:noFill/>
          <a:ln>
            <a:noFill/>
          </a:ln>
        </p:spPr>
        <p:txBody>
          <a:bodyPr lIns="91440" tIns="45720" rIns="91440" bIns="45720" anchor="t"/>
          <a:lstStyle>
            <a:lvl1pPr marL="0" indent="0" algn="l" defTabSz="914400" rtl="0" eaLnBrk="1" latinLnBrk="0" hangingPunct="1">
              <a:lnSpc>
                <a:spcPct val="90000"/>
              </a:lnSpc>
              <a:spcBef>
                <a:spcPts val="1000"/>
              </a:spcBef>
              <a:buFont typeface="Arial" panose="020B0604020202020204" pitchFamily="34" charset="0"/>
              <a:buNone/>
              <a:defRPr sz="4000" b="1"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3600" b="1"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3200" b="1"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2800" b="1"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2800" b="1"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3200" u="sng">
                <a:solidFill>
                  <a:srgbClr val="4A2BB2"/>
                </a:solidFill>
                <a:latin typeface="Arial"/>
                <a:cs typeface="Arial"/>
              </a:rPr>
              <a:t>Secure Your Year in Industry or Summer Internship Session</a:t>
            </a:r>
            <a:endParaRPr lang="en-GB" sz="3200">
              <a:solidFill>
                <a:srgbClr val="4A2BB2"/>
              </a:solidFill>
              <a:latin typeface="Arial"/>
              <a:cs typeface="Arial"/>
            </a:endParaRPr>
          </a:p>
          <a:p>
            <a:endParaRPr lang="en-GB" sz="2400" b="0"/>
          </a:p>
          <a:p>
            <a:endParaRPr lang="en-GB" sz="2400" b="0"/>
          </a:p>
          <a:p>
            <a:endParaRPr lang="en-GB"/>
          </a:p>
        </p:txBody>
      </p:sp>
      <p:pic>
        <p:nvPicPr>
          <p:cNvPr id="5" name="Picture 4">
            <a:extLst>
              <a:ext uri="{FF2B5EF4-FFF2-40B4-BE49-F238E27FC236}">
                <a16:creationId xmlns:a16="http://schemas.microsoft.com/office/drawing/2014/main" id="{2446BA2A-8061-3CEC-175E-859756CEB74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538582" y="2009723"/>
            <a:ext cx="3388405" cy="3388405"/>
          </a:xfrm>
          <a:prstGeom prst="rect">
            <a:avLst/>
          </a:prstGeom>
        </p:spPr>
      </p:pic>
    </p:spTree>
    <p:extLst>
      <p:ext uri="{BB962C8B-B14F-4D97-AF65-F5344CB8AC3E}">
        <p14:creationId xmlns:p14="http://schemas.microsoft.com/office/powerpoint/2010/main" val="1288124753"/>
      </p:ext>
    </p:extLst>
  </p:cSld>
  <p:clrMapOvr>
    <a:masterClrMapping/>
  </p:clrMapOvr>
</p:sld>
</file>

<file path=ppt/theme/theme1.xml><?xml version="1.0" encoding="utf-8"?>
<a:theme xmlns:a="http://schemas.openxmlformats.org/drawingml/2006/main" name="Corporate Master">
  <a:themeElements>
    <a:clrScheme name="YourFuture">
      <a:dk1>
        <a:sysClr val="windowText" lastClr="000000"/>
      </a:dk1>
      <a:lt1>
        <a:sysClr val="window" lastClr="FFFFFF"/>
      </a:lt1>
      <a:dk2>
        <a:srgbClr val="44546A"/>
      </a:dk2>
      <a:lt2>
        <a:srgbClr val="E7E6E6"/>
      </a:lt2>
      <a:accent1>
        <a:srgbClr val="292B65"/>
      </a:accent1>
      <a:accent2>
        <a:srgbClr val="ED7D31"/>
      </a:accent2>
      <a:accent3>
        <a:srgbClr val="1E8884"/>
      </a:accent3>
      <a:accent4>
        <a:srgbClr val="FFC000"/>
      </a:accent4>
      <a:accent5>
        <a:srgbClr val="70AD47"/>
      </a:accent5>
      <a:accent6>
        <a:srgbClr val="CC1853"/>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F320FBC0-61A2-4202-813F-01EEAD27CEFE}" vid="{426E8F9C-9ADF-41F6-BE7F-5E5D2E2D03DC}"/>
    </a:ext>
  </a:extLst>
</a:theme>
</file>

<file path=ppt/theme/theme2.xml><?xml version="1.0" encoding="utf-8"?>
<a:theme xmlns:a="http://schemas.openxmlformats.org/drawingml/2006/main" name="StudOpps Content A">
  <a:themeElements>
    <a:clrScheme name="YourFuture">
      <a:dk1>
        <a:sysClr val="windowText" lastClr="000000"/>
      </a:dk1>
      <a:lt1>
        <a:sysClr val="window" lastClr="FFFFFF"/>
      </a:lt1>
      <a:dk2>
        <a:srgbClr val="44546A"/>
      </a:dk2>
      <a:lt2>
        <a:srgbClr val="E7E6E6"/>
      </a:lt2>
      <a:accent1>
        <a:srgbClr val="292B65"/>
      </a:accent1>
      <a:accent2>
        <a:srgbClr val="ED7D31"/>
      </a:accent2>
      <a:accent3>
        <a:srgbClr val="1E8884"/>
      </a:accent3>
      <a:accent4>
        <a:srgbClr val="FFC000"/>
      </a:accent4>
      <a:accent5>
        <a:srgbClr val="70AD47"/>
      </a:accent5>
      <a:accent6>
        <a:srgbClr val="CC1853"/>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F320FBC0-61A2-4202-813F-01EEAD27CEFE}" vid="{DC186E9B-69A0-4389-AEF0-AA1538EF684B}"/>
    </a:ext>
  </a:extLst>
</a:theme>
</file>

<file path=ppt/theme/theme3.xml><?xml version="1.0" encoding="utf-8"?>
<a:theme xmlns:a="http://schemas.openxmlformats.org/drawingml/2006/main" name="Alternate StudOpps Content A">
  <a:themeElements>
    <a:clrScheme name="YourFuture">
      <a:dk1>
        <a:sysClr val="windowText" lastClr="000000"/>
      </a:dk1>
      <a:lt1>
        <a:sysClr val="window" lastClr="FFFFFF"/>
      </a:lt1>
      <a:dk2>
        <a:srgbClr val="44546A"/>
      </a:dk2>
      <a:lt2>
        <a:srgbClr val="E7E6E6"/>
      </a:lt2>
      <a:accent1>
        <a:srgbClr val="292B65"/>
      </a:accent1>
      <a:accent2>
        <a:srgbClr val="ED7D31"/>
      </a:accent2>
      <a:accent3>
        <a:srgbClr val="1E8884"/>
      </a:accent3>
      <a:accent4>
        <a:srgbClr val="FFC000"/>
      </a:accent4>
      <a:accent5>
        <a:srgbClr val="70AD47"/>
      </a:accent5>
      <a:accent6>
        <a:srgbClr val="CC1853"/>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F320FBC0-61A2-4202-813F-01EEAD27CEFE}" vid="{E61E3EA7-4376-490D-A3C4-8CE45A6DBC07}"/>
    </a:ext>
  </a:extLst>
</a:theme>
</file>

<file path=ppt/theme/theme4.xml><?xml version="1.0" encoding="utf-8"?>
<a:theme xmlns:a="http://schemas.openxmlformats.org/drawingml/2006/main" name="Alternate StudOpps Content B">
  <a:themeElements>
    <a:clrScheme name="YourFuture">
      <a:dk1>
        <a:sysClr val="windowText" lastClr="000000"/>
      </a:dk1>
      <a:lt1>
        <a:sysClr val="window" lastClr="FFFFFF"/>
      </a:lt1>
      <a:dk2>
        <a:srgbClr val="44546A"/>
      </a:dk2>
      <a:lt2>
        <a:srgbClr val="E7E6E6"/>
      </a:lt2>
      <a:accent1>
        <a:srgbClr val="292B65"/>
      </a:accent1>
      <a:accent2>
        <a:srgbClr val="ED7D31"/>
      </a:accent2>
      <a:accent3>
        <a:srgbClr val="1E8884"/>
      </a:accent3>
      <a:accent4>
        <a:srgbClr val="FFC000"/>
      </a:accent4>
      <a:accent5>
        <a:srgbClr val="70AD47"/>
      </a:accent5>
      <a:accent6>
        <a:srgbClr val="CC1853"/>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F320FBC0-61A2-4202-813F-01EEAD27CEFE}" vid="{59B8CF26-A324-412D-AB24-3D7C707D4D07}"/>
    </a:ext>
  </a:extLst>
</a:theme>
</file>

<file path=ppt/theme/theme5.xml><?xml version="1.0" encoding="utf-8"?>
<a:theme xmlns:a="http://schemas.openxmlformats.org/drawingml/2006/main" name="Title/ End slides">
  <a:themeElements>
    <a:clrScheme name="YourFuture">
      <a:dk1>
        <a:sysClr val="windowText" lastClr="000000"/>
      </a:dk1>
      <a:lt1>
        <a:sysClr val="window" lastClr="FFFFFF"/>
      </a:lt1>
      <a:dk2>
        <a:srgbClr val="44546A"/>
      </a:dk2>
      <a:lt2>
        <a:srgbClr val="E7E6E6"/>
      </a:lt2>
      <a:accent1>
        <a:srgbClr val="292B65"/>
      </a:accent1>
      <a:accent2>
        <a:srgbClr val="ED7D31"/>
      </a:accent2>
      <a:accent3>
        <a:srgbClr val="1E8884"/>
      </a:accent3>
      <a:accent4>
        <a:srgbClr val="FFC000"/>
      </a:accent4>
      <a:accent5>
        <a:srgbClr val="70AD47"/>
      </a:accent5>
      <a:accent6>
        <a:srgbClr val="CC1853"/>
      </a:accent6>
      <a:hlink>
        <a:srgbClr val="0563C1"/>
      </a:hlink>
      <a:folHlink>
        <a:srgbClr val="954F72"/>
      </a:folHlink>
    </a:clrScheme>
    <a:fontScheme name="Arial">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F320FBC0-61A2-4202-813F-01EEAD27CEFE}" vid="{D892CA58-1ED2-45B9-8535-07607EB5BC4B}"/>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f1145181-b5bc-4fac-a18e-afe7ab2d614f">
      <Terms xmlns="http://schemas.microsoft.com/office/infopath/2007/PartnerControls"/>
    </lcf76f155ced4ddcb4097134ff3c332f>
    <TaxCatchAll xmlns="2b54b562-d669-4f3f-8509-fbf821a70ba8" xsi:nil="true"/>
    <SharedWithUsers xmlns="2b54b562-d669-4f3f-8509-fbf821a70ba8">
      <UserInfo>
        <DisplayName>Sadhika Rojukhirdu</DisplayName>
        <AccountId>579</AccountId>
        <AccountType/>
      </UserInfo>
    </SharedWithUsers>
    <DateTime xmlns="f1145181-b5bc-4fac-a18e-afe7ab2d614f"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1344434BFCB0346910A273B5FE0717D" ma:contentTypeVersion="20" ma:contentTypeDescription="Create a new document." ma:contentTypeScope="" ma:versionID="21e81ad55819dfebb4ba6a6a630acb99">
  <xsd:schema xmlns:xsd="http://www.w3.org/2001/XMLSchema" xmlns:xs="http://www.w3.org/2001/XMLSchema" xmlns:p="http://schemas.microsoft.com/office/2006/metadata/properties" xmlns:ns2="f1145181-b5bc-4fac-a18e-afe7ab2d614f" xmlns:ns3="2b54b562-d669-4f3f-8509-fbf821a70ba8" targetNamespace="http://schemas.microsoft.com/office/2006/metadata/properties" ma:root="true" ma:fieldsID="fc5af13a4586c2996a584ba667b520bb" ns2:_="" ns3:_="">
    <xsd:import namespace="f1145181-b5bc-4fac-a18e-afe7ab2d614f"/>
    <xsd:import namespace="2b54b562-d669-4f3f-8509-fbf821a70ba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DateTaken" minOccurs="0"/>
                <xsd:element ref="ns2:MediaServiceOCR" minOccurs="0"/>
                <xsd:element ref="ns2:MediaServiceAutoKeyPoints" minOccurs="0"/>
                <xsd:element ref="ns2:MediaServiceKeyPoints"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DateTime"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1145181-b5bc-4fac-a18e-afe7ab2d614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b3a19cb6-1b10-4512-a12b-f76e45842a2d" ma:termSetId="09814cd3-568e-fe90-9814-8d621ff8fb84" ma:anchorId="fba54fb3-c3e1-fe81-a776-ca4b69148c4d" ma:open="true" ma:isKeyword="false">
      <xsd:complexType>
        <xsd:sequence>
          <xsd:element ref="pc:Terms" minOccurs="0" maxOccurs="1"/>
        </xsd:sequence>
      </xsd:complexType>
    </xsd:element>
    <xsd:element name="DateTime" ma:index="24" nillable="true" ma:displayName="Date &amp; Time" ma:format="DateOnly" ma:internalName="DateTime">
      <xsd:simpleType>
        <xsd:restriction base="dms:DateTime"/>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b54b562-d669-4f3f-8509-fbf821a70ba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d3c66f26-2a2d-40d5-aeaa-61bd741a1719}" ma:internalName="TaxCatchAll" ma:showField="CatchAllData" ma:web="2b54b562-d669-4f3f-8509-fbf821a70ba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0E0811D-2963-4C4B-8A76-40D5DA6326D3}">
  <ds:schemaRefs>
    <ds:schemaRef ds:uri="http://schemas.microsoft.com/sharepoint/v3/contenttype/forms"/>
  </ds:schemaRefs>
</ds:datastoreItem>
</file>

<file path=customXml/itemProps2.xml><?xml version="1.0" encoding="utf-8"?>
<ds:datastoreItem xmlns:ds="http://schemas.openxmlformats.org/officeDocument/2006/customXml" ds:itemID="{E5D554B4-8868-49D4-834B-128731A6AE59}">
  <ds:schemaRefs>
    <ds:schemaRef ds:uri="http://purl.org/dc/elements/1.1/"/>
    <ds:schemaRef ds:uri="http://purl.org/dc/terms/"/>
    <ds:schemaRef ds:uri="http://www.w3.org/XML/1998/namespace"/>
    <ds:schemaRef ds:uri="http://schemas.microsoft.com/office/2006/metadata/properties"/>
    <ds:schemaRef ds:uri="http://schemas.microsoft.com/office/infopath/2007/PartnerControls"/>
    <ds:schemaRef ds:uri="http://schemas.openxmlformats.org/package/2006/metadata/core-properties"/>
    <ds:schemaRef ds:uri="http://schemas.microsoft.com/office/2006/documentManagement/types"/>
    <ds:schemaRef ds:uri="2b54b562-d669-4f3f-8509-fbf821a70ba8"/>
    <ds:schemaRef ds:uri="f1145181-b5bc-4fac-a18e-afe7ab2d614f"/>
    <ds:schemaRef ds:uri="http://purl.org/dc/dcmitype/"/>
  </ds:schemaRefs>
</ds:datastoreItem>
</file>

<file path=customXml/itemProps3.xml><?xml version="1.0" encoding="utf-8"?>
<ds:datastoreItem xmlns:ds="http://schemas.openxmlformats.org/officeDocument/2006/customXml" ds:itemID="{54743A07-1395-4491-BA6D-B42344ED7746}">
  <ds:schemaRefs>
    <ds:schemaRef ds:uri="2b54b562-d669-4f3f-8509-fbf821a70ba8"/>
    <ds:schemaRef ds:uri="f1145181-b5bc-4fac-a18e-afe7ab2d614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TEMPLATE Careers and Framework presentation widescreen</Template>
  <TotalTime>129</TotalTime>
  <Words>1335</Words>
  <Application>Microsoft Macintosh PowerPoint</Application>
  <PresentationFormat>Widescreen</PresentationFormat>
  <Paragraphs>175</Paragraphs>
  <Slides>14</Slides>
  <Notes>9</Notes>
  <HiddenSlides>0</HiddenSlides>
  <MMClips>0</MMClips>
  <ScaleCrop>false</ScaleCrop>
  <HeadingPairs>
    <vt:vector size="6" baseType="variant">
      <vt:variant>
        <vt:lpstr>Fonts Used</vt:lpstr>
      </vt:variant>
      <vt:variant>
        <vt:i4>8</vt:i4>
      </vt:variant>
      <vt:variant>
        <vt:lpstr>Theme</vt:lpstr>
      </vt:variant>
      <vt:variant>
        <vt:i4>5</vt:i4>
      </vt:variant>
      <vt:variant>
        <vt:lpstr>Slide Titles</vt:lpstr>
      </vt:variant>
      <vt:variant>
        <vt:i4>14</vt:i4>
      </vt:variant>
    </vt:vector>
  </HeadingPairs>
  <TitlesOfParts>
    <vt:vector size="27" baseType="lpstr">
      <vt:lpstr>Aptos</vt:lpstr>
      <vt:lpstr>Aptos Black</vt:lpstr>
      <vt:lpstr>Arial</vt:lpstr>
      <vt:lpstr>Arial MT</vt:lpstr>
      <vt:lpstr>Calibri</vt:lpstr>
      <vt:lpstr>Poppins</vt:lpstr>
      <vt:lpstr>Segoe UI</vt:lpstr>
      <vt:lpstr>Wingdings</vt:lpstr>
      <vt:lpstr>Corporate Master</vt:lpstr>
      <vt:lpstr>StudOpps Content A</vt:lpstr>
      <vt:lpstr>Alternate StudOpps Content A</vt:lpstr>
      <vt:lpstr>Alternate StudOpps Content B</vt:lpstr>
      <vt:lpstr>Title/ End slides</vt:lpstr>
      <vt:lpstr>PowerPoint Presentation</vt:lpstr>
      <vt:lpstr>PowerPoint Presentation</vt:lpstr>
      <vt:lpstr>PowerPoint Presentation</vt:lpstr>
      <vt:lpstr>Paid Work Experience Opportunities</vt:lpstr>
      <vt:lpstr>PowerPoint Presentation</vt:lpstr>
      <vt:lpstr>MyCareer. leeds.ac.uk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Andy Blunt</dc:creator>
  <cp:lastModifiedBy>Richard Mann</cp:lastModifiedBy>
  <cp:revision>13</cp:revision>
  <dcterms:created xsi:type="dcterms:W3CDTF">2026-08-10T11:20:20Z</dcterms:created>
  <dcterms:modified xsi:type="dcterms:W3CDTF">2026-10-12T11:41:48Z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0x01010041344434BFCB0346910A273B5FE0717D</vt:lpwstr>
  </property>
  <property fmtid="{D5CDD505-2E9C-101B-9397-08002B2CF9AE}" pid="3" name="MediaServiceImageTags">
    <vt:lpwstr/>
  </property>
</Properties>
</file>